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323D"/>
        </a:solidFill>
      </p:bgPr>
    </p:bg>
    <p:spTree>
      <p:nvGrpSpPr>
        <p:cNvPr id="1" name=""/>
        <p:cNvGrpSpPr/>
        <p:nvPr/>
      </p:nvGrpSpPr>
      <p:grpSpPr>
        <a:xfrm>
          <a:off x="0" y="0"/>
          <a:ext cx="0" cy="0"/>
          <a:chOff x="0" y="0"/>
          <a:chExt cx="0" cy="0"/>
        </a:xfrm>
      </p:grpSpPr>
      <p:sp>
        <p:nvSpPr>
          <p:cNvPr id="2" name="Shape 0"/>
          <p:cNvSpPr/>
          <p:nvPr/>
        </p:nvSpPr>
        <p:spPr>
          <a:xfrm>
            <a:off x="9784080" y="-2103120"/>
            <a:ext cx="5943600" cy="5943600"/>
          </a:xfrm>
          <a:prstGeom prst="ellipse">
            <a:avLst/>
          </a:prstGeom>
          <a:solidFill>
            <a:srgbClr val="028090">
              <a:alpha val="45000"/>
            </a:srgbClr>
          </a:solidFill>
          <a:ln/>
        </p:spPr>
      </p:sp>
      <p:sp>
        <p:nvSpPr>
          <p:cNvPr id="3" name="Shape 1"/>
          <p:cNvSpPr/>
          <p:nvPr/>
        </p:nvSpPr>
        <p:spPr>
          <a:xfrm>
            <a:off x="11521440" y="2377440"/>
            <a:ext cx="3840480" cy="3840480"/>
          </a:xfrm>
          <a:prstGeom prst="ellipse">
            <a:avLst/>
          </a:prstGeom>
          <a:solidFill>
            <a:srgbClr val="00A896">
              <a:alpha val="40000"/>
            </a:srgbClr>
          </a:solidFill>
          <a:ln/>
        </p:spPr>
      </p:sp>
      <p:sp>
        <p:nvSpPr>
          <p:cNvPr id="4" name="Shape 2"/>
          <p:cNvSpPr/>
          <p:nvPr/>
        </p:nvSpPr>
        <p:spPr>
          <a:xfrm>
            <a:off x="-1463040" y="5120640"/>
            <a:ext cx="4206240" cy="4206240"/>
          </a:xfrm>
          <a:prstGeom prst="ellipse">
            <a:avLst/>
          </a:prstGeom>
          <a:solidFill>
            <a:srgbClr val="028090">
              <a:alpha val="45000"/>
            </a:srgbClr>
          </a:solidFill>
          <a:ln/>
        </p:spPr>
      </p:sp>
      <p:pic>
        <p:nvPicPr>
          <p:cNvPr id="5" name="Image 0" descr="/home/claude/work/iilm_logo-000.jpg">    </p:cNvPr>
          <p:cNvPicPr>
            <a:picLocks noChangeAspect="1"/>
          </p:cNvPicPr>
          <p:nvPr/>
        </p:nvPicPr>
        <p:blipFill>
          <a:blip r:embed="rId1"/>
          <a:stretch>
            <a:fillRect/>
          </a:stretch>
        </p:blipFill>
        <p:spPr>
          <a:xfrm>
            <a:off x="502920" y="502920"/>
            <a:ext cx="457200" cy="420624"/>
          </a:xfrm>
          <a:prstGeom prst="rect">
            <a:avLst/>
          </a:prstGeom>
        </p:spPr>
      </p:pic>
      <p:sp>
        <p:nvSpPr>
          <p:cNvPr id="6" name="Text 3"/>
          <p:cNvSpPr/>
          <p:nvPr/>
        </p:nvSpPr>
        <p:spPr>
          <a:xfrm>
            <a:off x="1051560" y="475488"/>
            <a:ext cx="5486400" cy="457200"/>
          </a:xfrm>
          <a:prstGeom prst="rect">
            <a:avLst/>
          </a:prstGeom>
          <a:noFill/>
          <a:ln/>
        </p:spPr>
        <p:txBody>
          <a:bodyPr wrap="square" lIns="0" tIns="0" rIns="0" bIns="0" rtlCol="0" anchor="ctr"/>
          <a:lstStyle/>
          <a:p>
            <a:pPr algn="l" indent="0" marL="0">
              <a:buNone/>
            </a:pPr>
            <a:r>
              <a:rPr lang="en-US" sz="1400" b="1" dirty="0">
                <a:solidFill>
                  <a:srgbClr val="FFFFFF"/>
                </a:solidFill>
                <a:latin typeface="Calibri" pitchFamily="34" charset="0"/>
                <a:ea typeface="Calibri" pitchFamily="34" charset="-122"/>
                <a:cs typeface="Calibri" pitchFamily="34" charset="-120"/>
              </a:rPr>
              <a:t>IILM UNIVERSITY, GREATER NOIDA</a:t>
            </a:r>
            <a:endParaRPr lang="en-US" sz="1400" dirty="0"/>
          </a:p>
        </p:txBody>
      </p:sp>
      <p:sp>
        <p:nvSpPr>
          <p:cNvPr id="7" name="Text 4"/>
          <p:cNvSpPr/>
          <p:nvPr/>
        </p:nvSpPr>
        <p:spPr>
          <a:xfrm>
            <a:off x="548640" y="1965960"/>
            <a:ext cx="7315200" cy="365760"/>
          </a:xfrm>
          <a:prstGeom prst="rect">
            <a:avLst/>
          </a:prstGeom>
          <a:noFill/>
          <a:ln/>
        </p:spPr>
        <p:txBody>
          <a:bodyPr wrap="square" lIns="0" tIns="0" rIns="0" bIns="0" rtlCol="0" anchor="ctr"/>
          <a:lstStyle/>
          <a:p>
            <a:pPr indent="0" marL="0">
              <a:buNone/>
            </a:pPr>
            <a:r>
              <a:rPr lang="en-US" sz="1300" b="1" spc="200" kern="0" dirty="0">
                <a:solidFill>
                  <a:srgbClr val="F2B441"/>
                </a:solidFill>
                <a:latin typeface="Calibri" pitchFamily="34" charset="0"/>
                <a:ea typeface="Calibri" pitchFamily="34" charset="-122"/>
                <a:cs typeface="Calibri" pitchFamily="34" charset="-120"/>
              </a:rPr>
              <a:t>INTERNSHIP REPORT PRESENTATION</a:t>
            </a:r>
            <a:endParaRPr lang="en-US" sz="1300" dirty="0"/>
          </a:p>
        </p:txBody>
      </p:sp>
      <p:sp>
        <p:nvSpPr>
          <p:cNvPr id="8" name="Text 5"/>
          <p:cNvSpPr/>
          <p:nvPr/>
        </p:nvSpPr>
        <p:spPr>
          <a:xfrm>
            <a:off x="502920" y="2331720"/>
            <a:ext cx="9601200" cy="96012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Data Science Master</a:t>
            </a:r>
            <a:endParaRPr lang="en-US" sz="5400" dirty="0"/>
          </a:p>
        </p:txBody>
      </p:sp>
      <p:sp>
        <p:nvSpPr>
          <p:cNvPr id="9" name="Text 6"/>
          <p:cNvSpPr/>
          <p:nvPr/>
        </p:nvSpPr>
        <p:spPr>
          <a:xfrm>
            <a:off x="548640" y="3246120"/>
            <a:ext cx="8229600" cy="685800"/>
          </a:xfrm>
          <a:prstGeom prst="rect">
            <a:avLst/>
          </a:prstGeom>
          <a:noFill/>
          <a:ln/>
        </p:spPr>
        <p:txBody>
          <a:bodyPr wrap="square" lIns="0" tIns="0" rIns="0" bIns="0" rtlCol="0" anchor="ctr"/>
          <a:lstStyle/>
          <a:p>
            <a:pPr indent="0" marL="0">
              <a:buNone/>
            </a:pPr>
            <a:r>
              <a:rPr lang="en-US" sz="3200" dirty="0">
                <a:solidFill>
                  <a:srgbClr val="CADCE0"/>
                </a:solidFill>
                <a:latin typeface="Cambria" pitchFamily="34" charset="0"/>
                <a:ea typeface="Cambria" pitchFamily="34" charset="-122"/>
                <a:cs typeface="Cambria" pitchFamily="34" charset="-120"/>
              </a:rPr>
              <a:t>Virtual Internship</a:t>
            </a:r>
            <a:endParaRPr lang="en-US" sz="3200" dirty="0"/>
          </a:p>
        </p:txBody>
      </p:sp>
      <p:sp>
        <p:nvSpPr>
          <p:cNvPr id="10" name="Text 7"/>
          <p:cNvSpPr/>
          <p:nvPr/>
        </p:nvSpPr>
        <p:spPr>
          <a:xfrm>
            <a:off x="548640" y="4023360"/>
            <a:ext cx="9144000" cy="365760"/>
          </a:xfrm>
          <a:prstGeom prst="rect">
            <a:avLst/>
          </a:prstGeom>
          <a:noFill/>
          <a:ln/>
        </p:spPr>
        <p:txBody>
          <a:bodyPr wrap="square" lIns="0" tIns="0" rIns="0" bIns="0" rtlCol="0" anchor="ctr"/>
          <a:lstStyle/>
          <a:p>
            <a:pPr indent="0" marL="0">
              <a:buNone/>
            </a:pPr>
            <a:r>
              <a:rPr lang="en-US" sz="1400" dirty="0">
                <a:solidFill>
                  <a:srgbClr val="B9CDD1"/>
                </a:solidFill>
                <a:latin typeface="Calibri" pitchFamily="34" charset="0"/>
                <a:ea typeface="Calibri" pitchFamily="34" charset="-122"/>
                <a:cs typeface="Calibri" pitchFamily="34" charset="-120"/>
              </a:rPr>
              <a:t>AICTE – EduSkills Virtual Internship Program  |  Supported by Siemens</a:t>
            </a:r>
            <a:endParaRPr lang="en-US" sz="1400" dirty="0"/>
          </a:p>
        </p:txBody>
      </p:sp>
      <p:sp>
        <p:nvSpPr>
          <p:cNvPr id="11" name="Shape 8"/>
          <p:cNvSpPr/>
          <p:nvPr/>
        </p:nvSpPr>
        <p:spPr>
          <a:xfrm>
            <a:off x="566928" y="4553712"/>
            <a:ext cx="1828800" cy="0"/>
          </a:xfrm>
          <a:prstGeom prst="line">
            <a:avLst/>
          </a:prstGeom>
          <a:noFill/>
          <a:ln w="28575">
            <a:solidFill>
              <a:srgbClr val="F2B441"/>
            </a:solidFill>
            <a:prstDash val="solid"/>
          </a:ln>
        </p:spPr>
      </p:sp>
      <p:sp>
        <p:nvSpPr>
          <p:cNvPr id="12" name="Text 9"/>
          <p:cNvSpPr/>
          <p:nvPr/>
        </p:nvSpPr>
        <p:spPr>
          <a:xfrm>
            <a:off x="548640" y="4800600"/>
            <a:ext cx="7315200" cy="36576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Sanjana Kumari</a:t>
            </a:r>
            <a:endParaRPr lang="en-US" sz="1800" dirty="0"/>
          </a:p>
        </p:txBody>
      </p:sp>
      <p:sp>
        <p:nvSpPr>
          <p:cNvPr id="13" name="Text 10"/>
          <p:cNvSpPr/>
          <p:nvPr/>
        </p:nvSpPr>
        <p:spPr>
          <a:xfrm>
            <a:off x="548640" y="5193792"/>
            <a:ext cx="7315200" cy="292608"/>
          </a:xfrm>
          <a:prstGeom prst="rect">
            <a:avLst/>
          </a:prstGeom>
          <a:noFill/>
          <a:ln/>
        </p:spPr>
        <p:txBody>
          <a:bodyPr wrap="square" lIns="0" tIns="0" rIns="0" bIns="0" rtlCol="0" anchor="ctr"/>
          <a:lstStyle/>
          <a:p>
            <a:pPr indent="0" marL="0">
              <a:buNone/>
            </a:pPr>
            <a:r>
              <a:rPr lang="en-US" sz="1250" dirty="0">
                <a:solidFill>
                  <a:srgbClr val="9FB8BC"/>
                </a:solidFill>
                <a:latin typeface="Calibri" pitchFamily="34" charset="0"/>
                <a:ea typeface="Calibri" pitchFamily="34" charset="-122"/>
                <a:cs typeface="Calibri" pitchFamily="34" charset="-120"/>
              </a:rPr>
              <a:t>IILM University, Greater Noida</a:t>
            </a:r>
            <a:endParaRPr lang="en-US" sz="1250" dirty="0"/>
          </a:p>
        </p:txBody>
      </p:sp>
      <p:sp>
        <p:nvSpPr>
          <p:cNvPr id="14" name="Text 11"/>
          <p:cNvSpPr/>
          <p:nvPr/>
        </p:nvSpPr>
        <p:spPr>
          <a:xfrm>
            <a:off x="548640" y="5468112"/>
            <a:ext cx="7315200" cy="292608"/>
          </a:xfrm>
          <a:prstGeom prst="rect">
            <a:avLst/>
          </a:prstGeom>
          <a:noFill/>
          <a:ln/>
        </p:spPr>
        <p:txBody>
          <a:bodyPr wrap="square" lIns="0" tIns="0" rIns="0" bIns="0" rtlCol="0" anchor="ctr"/>
          <a:lstStyle/>
          <a:p>
            <a:pPr indent="0" marL="0">
              <a:buNone/>
            </a:pPr>
            <a:r>
              <a:rPr lang="en-US" sz="1250" dirty="0">
                <a:solidFill>
                  <a:srgbClr val="9FB8BC"/>
                </a:solidFill>
                <a:latin typeface="Calibri" pitchFamily="34" charset="0"/>
                <a:ea typeface="Calibri" pitchFamily="34" charset="-122"/>
                <a:cs typeface="Calibri" pitchFamily="34" charset="-120"/>
              </a:rPr>
              <a:t>April – June 2026</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566160" cy="6858000"/>
          </a:xfrm>
          <a:prstGeom prst="rect">
            <a:avLst/>
          </a:prstGeom>
          <a:solidFill>
            <a:srgbClr val="17323D"/>
          </a:solidFill>
          <a:ln/>
        </p:spPr>
      </p:sp>
      <p:sp>
        <p:nvSpPr>
          <p:cNvPr id="3" name="Shape 1"/>
          <p:cNvSpPr/>
          <p:nvPr/>
        </p:nvSpPr>
        <p:spPr>
          <a:xfrm>
            <a:off x="-1280160" y="4846320"/>
            <a:ext cx="3840480" cy="3840480"/>
          </a:xfrm>
          <a:prstGeom prst="ellipse">
            <a:avLst/>
          </a:prstGeom>
          <a:solidFill>
            <a:srgbClr val="028090">
              <a:alpha val="45000"/>
            </a:srgbClr>
          </a:solidFill>
          <a:ln/>
        </p:spPr>
      </p:sp>
      <p:sp>
        <p:nvSpPr>
          <p:cNvPr id="4" name="Shape 2"/>
          <p:cNvSpPr/>
          <p:nvPr/>
        </p:nvSpPr>
        <p:spPr>
          <a:xfrm>
            <a:off x="1325880" y="868680"/>
            <a:ext cx="914400" cy="914400"/>
          </a:xfrm>
          <a:prstGeom prst="ellipse">
            <a:avLst/>
          </a:prstGeom>
          <a:solidFill>
            <a:srgbClr val="22454F"/>
          </a:solidFill>
          <a:ln/>
        </p:spPr>
      </p:sp>
      <p:sp>
        <p:nvSpPr>
          <p:cNvPr id="5" name="Text 3"/>
          <p:cNvSpPr/>
          <p:nvPr/>
        </p:nvSpPr>
        <p:spPr>
          <a:xfrm>
            <a:off x="1325880" y="868680"/>
            <a:ext cx="914400" cy="914400"/>
          </a:xfrm>
          <a:prstGeom prst="rect">
            <a:avLst/>
          </a:prstGeom>
          <a:noFill/>
          <a:ln/>
        </p:spPr>
        <p:txBody>
          <a:bodyPr wrap="square" lIns="0" tIns="0" rIns="0" bIns="0" rtlCol="0" anchor="ctr"/>
          <a:lstStyle/>
          <a:p>
            <a:pPr algn="ctr" indent="0" marL="0">
              <a:buNone/>
            </a:pPr>
            <a:r>
              <a:rPr lang="en-US" sz="3000" dirty="0">
                <a:solidFill>
                  <a:srgbClr val="000000"/>
                </a:solidFill>
              </a:rPr>
              <a:t>👩‍🎓</a:t>
            </a:r>
            <a:endParaRPr lang="en-US" sz="3000" dirty="0"/>
          </a:p>
        </p:txBody>
      </p:sp>
      <p:sp>
        <p:nvSpPr>
          <p:cNvPr id="6" name="Text 4"/>
          <p:cNvSpPr/>
          <p:nvPr/>
        </p:nvSpPr>
        <p:spPr>
          <a:xfrm>
            <a:off x="274320" y="2057400"/>
            <a:ext cx="3017520" cy="100584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Sanjana</a:t>
            </a:r>
            <a:endParaRPr lang="en-US" sz="2600" dirty="0"/>
          </a:p>
          <a:p>
            <a:pPr algn="ctr" indent="0" marL="0">
              <a:buNone/>
            </a:pPr>
            <a:r>
              <a:rPr lang="en-US" sz="2600" b="1" dirty="0">
                <a:solidFill>
                  <a:srgbClr val="FFFFFF"/>
                </a:solidFill>
                <a:latin typeface="Cambria" pitchFamily="34" charset="0"/>
                <a:ea typeface="Cambria" pitchFamily="34" charset="-122"/>
                <a:cs typeface="Cambria" pitchFamily="34" charset="-120"/>
              </a:rPr>
              <a:t>Kumari</a:t>
            </a:r>
            <a:endParaRPr lang="en-US" sz="2600" dirty="0"/>
          </a:p>
        </p:txBody>
      </p:sp>
      <p:sp>
        <p:nvSpPr>
          <p:cNvPr id="7" name="Text 5"/>
          <p:cNvSpPr/>
          <p:nvPr/>
        </p:nvSpPr>
        <p:spPr>
          <a:xfrm>
            <a:off x="274320" y="3154680"/>
            <a:ext cx="3017520" cy="365760"/>
          </a:xfrm>
          <a:prstGeom prst="rect">
            <a:avLst/>
          </a:prstGeom>
          <a:noFill/>
          <a:ln/>
        </p:spPr>
        <p:txBody>
          <a:bodyPr wrap="square" lIns="0" tIns="0" rIns="0" bIns="0" rtlCol="0" anchor="ctr"/>
          <a:lstStyle/>
          <a:p>
            <a:pPr algn="ctr" indent="0" marL="0">
              <a:buNone/>
            </a:pPr>
            <a:r>
              <a:rPr lang="en-US" sz="1250" dirty="0">
                <a:solidFill>
                  <a:srgbClr val="9FB8BC"/>
                </a:solidFill>
                <a:latin typeface="Calibri" pitchFamily="34" charset="0"/>
                <a:ea typeface="Calibri" pitchFamily="34" charset="-122"/>
                <a:cs typeface="Calibri" pitchFamily="34" charset="-120"/>
              </a:rPr>
              <a:t>Data Science Master Program</a:t>
            </a:r>
            <a:endParaRPr lang="en-US" sz="1250" dirty="0"/>
          </a:p>
        </p:txBody>
      </p:sp>
      <p:sp>
        <p:nvSpPr>
          <p:cNvPr id="8" name="Text 6"/>
          <p:cNvSpPr/>
          <p:nvPr/>
        </p:nvSpPr>
        <p:spPr>
          <a:xfrm>
            <a:off x="4023360" y="566928"/>
            <a:ext cx="7315200" cy="320040"/>
          </a:xfrm>
          <a:prstGeom prst="rect">
            <a:avLst/>
          </a:prstGeom>
          <a:noFill/>
          <a:ln/>
        </p:spPr>
        <p:txBody>
          <a:bodyPr wrap="square" lIns="0" tIns="0" rIns="0" bIns="0" rtlCol="0" anchor="ctr"/>
          <a:lstStyle/>
          <a:p>
            <a:pPr algn="l" indent="0" marL="0">
              <a:buNone/>
            </a:pPr>
            <a:r>
              <a:rPr lang="en-US" sz="1200" b="1" spc="200" kern="0" dirty="0">
                <a:solidFill>
                  <a:srgbClr val="028090"/>
                </a:solidFill>
                <a:latin typeface="Calibri" pitchFamily="34" charset="0"/>
                <a:ea typeface="Calibri" pitchFamily="34" charset="-122"/>
                <a:cs typeface="Calibri" pitchFamily="34" charset="-120"/>
              </a:rPr>
              <a:t>ABOUT THE STUDENT</a:t>
            </a:r>
            <a:endParaRPr lang="en-US" sz="1200" dirty="0"/>
          </a:p>
        </p:txBody>
      </p:sp>
      <p:sp>
        <p:nvSpPr>
          <p:cNvPr id="9" name="Text 7"/>
          <p:cNvSpPr/>
          <p:nvPr/>
        </p:nvSpPr>
        <p:spPr>
          <a:xfrm>
            <a:off x="4023360" y="868680"/>
            <a:ext cx="7315200" cy="640080"/>
          </a:xfrm>
          <a:prstGeom prst="rect">
            <a:avLst/>
          </a:prstGeom>
          <a:noFill/>
          <a:ln/>
        </p:spPr>
        <p:txBody>
          <a:bodyPr wrap="square" lIns="0" tIns="0" rIns="0" bIns="0" rtlCol="0" anchor="ctr"/>
          <a:lstStyle/>
          <a:p>
            <a:pPr indent="0" marL="0">
              <a:buNone/>
            </a:pPr>
            <a:r>
              <a:rPr lang="en-US" sz="3200" b="1" dirty="0">
                <a:solidFill>
                  <a:srgbClr val="16262B"/>
                </a:solidFill>
                <a:latin typeface="Cambria" pitchFamily="34" charset="0"/>
                <a:ea typeface="Cambria" pitchFamily="34" charset="-122"/>
                <a:cs typeface="Cambria" pitchFamily="34" charset="-120"/>
              </a:rPr>
              <a:t>Candidate Profile</a:t>
            </a:r>
            <a:endParaRPr lang="en-US" sz="3200" dirty="0"/>
          </a:p>
        </p:txBody>
      </p:sp>
      <p:sp>
        <p:nvSpPr>
          <p:cNvPr id="10" name="Shape 8"/>
          <p:cNvSpPr/>
          <p:nvPr/>
        </p:nvSpPr>
        <p:spPr>
          <a:xfrm>
            <a:off x="4023360" y="1783080"/>
            <a:ext cx="502920" cy="502920"/>
          </a:xfrm>
          <a:prstGeom prst="ellipse">
            <a:avLst/>
          </a:prstGeom>
          <a:solidFill>
            <a:srgbClr val="DCEEEC"/>
          </a:solidFill>
          <a:ln/>
        </p:spPr>
      </p:sp>
      <p:sp>
        <p:nvSpPr>
          <p:cNvPr id="11" name="Text 9"/>
          <p:cNvSpPr/>
          <p:nvPr/>
        </p:nvSpPr>
        <p:spPr>
          <a:xfrm>
            <a:off x="4023360" y="1783080"/>
            <a:ext cx="502920" cy="50292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2" name="Text 10"/>
          <p:cNvSpPr/>
          <p:nvPr/>
        </p:nvSpPr>
        <p:spPr>
          <a:xfrm>
            <a:off x="4754880" y="1755648"/>
            <a:ext cx="6858000" cy="292608"/>
          </a:xfrm>
          <a:prstGeom prst="rect">
            <a:avLst/>
          </a:prstGeom>
          <a:noFill/>
          <a:ln/>
        </p:spPr>
        <p:txBody>
          <a:bodyPr wrap="square" lIns="0" tIns="0" rIns="0" bIns="0" rtlCol="0" anchor="ctr"/>
          <a:lstStyle/>
          <a:p>
            <a:pPr indent="0" marL="0">
              <a:buNone/>
            </a:pPr>
            <a:r>
              <a:rPr lang="en-US" sz="1250" b="1" dirty="0">
                <a:solidFill>
                  <a:srgbClr val="028090"/>
                </a:solidFill>
                <a:latin typeface="Calibri" pitchFamily="34" charset="0"/>
                <a:ea typeface="Calibri" pitchFamily="34" charset="-122"/>
                <a:cs typeface="Calibri" pitchFamily="34" charset="-120"/>
              </a:rPr>
              <a:t>Roll Number</a:t>
            </a:r>
            <a:endParaRPr lang="en-US" sz="1250" dirty="0"/>
          </a:p>
        </p:txBody>
      </p:sp>
      <p:sp>
        <p:nvSpPr>
          <p:cNvPr id="13" name="Text 11"/>
          <p:cNvSpPr/>
          <p:nvPr/>
        </p:nvSpPr>
        <p:spPr>
          <a:xfrm>
            <a:off x="4754880" y="2029968"/>
            <a:ext cx="7040880" cy="320040"/>
          </a:xfrm>
          <a:prstGeom prst="rect">
            <a:avLst/>
          </a:prstGeom>
          <a:noFill/>
          <a:ln/>
        </p:spPr>
        <p:txBody>
          <a:bodyPr wrap="square" lIns="0" tIns="0" rIns="0" bIns="0" rtlCol="0" anchor="ctr"/>
          <a:lstStyle/>
          <a:p>
            <a:pPr indent="0" marL="0">
              <a:buNone/>
            </a:pPr>
            <a:r>
              <a:rPr lang="en-US" sz="1450" dirty="0">
                <a:solidFill>
                  <a:srgbClr val="16262B"/>
                </a:solidFill>
                <a:latin typeface="Calibri" pitchFamily="34" charset="0"/>
                <a:ea typeface="Calibri" pitchFamily="34" charset="-122"/>
                <a:cs typeface="Calibri" pitchFamily="34" charset="-120"/>
              </a:rPr>
              <a:t>2410031590</a:t>
            </a:r>
            <a:endParaRPr lang="en-US" sz="1450" dirty="0"/>
          </a:p>
        </p:txBody>
      </p:sp>
      <p:sp>
        <p:nvSpPr>
          <p:cNvPr id="14" name="Shape 12"/>
          <p:cNvSpPr/>
          <p:nvPr/>
        </p:nvSpPr>
        <p:spPr>
          <a:xfrm>
            <a:off x="4023360" y="2651760"/>
            <a:ext cx="502920" cy="502920"/>
          </a:xfrm>
          <a:prstGeom prst="ellipse">
            <a:avLst/>
          </a:prstGeom>
          <a:solidFill>
            <a:srgbClr val="DCEEEC"/>
          </a:solidFill>
          <a:ln/>
        </p:spPr>
      </p:sp>
      <p:sp>
        <p:nvSpPr>
          <p:cNvPr id="15" name="Text 13"/>
          <p:cNvSpPr/>
          <p:nvPr/>
        </p:nvSpPr>
        <p:spPr>
          <a:xfrm>
            <a:off x="4023360" y="2651760"/>
            <a:ext cx="502920" cy="50292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6" name="Text 14"/>
          <p:cNvSpPr/>
          <p:nvPr/>
        </p:nvSpPr>
        <p:spPr>
          <a:xfrm>
            <a:off x="4754880" y="2624328"/>
            <a:ext cx="6858000" cy="292608"/>
          </a:xfrm>
          <a:prstGeom prst="rect">
            <a:avLst/>
          </a:prstGeom>
          <a:noFill/>
          <a:ln/>
        </p:spPr>
        <p:txBody>
          <a:bodyPr wrap="square" lIns="0" tIns="0" rIns="0" bIns="0" rtlCol="0" anchor="ctr"/>
          <a:lstStyle/>
          <a:p>
            <a:pPr indent="0" marL="0">
              <a:buNone/>
            </a:pPr>
            <a:r>
              <a:rPr lang="en-US" sz="1250" b="1" dirty="0">
                <a:solidFill>
                  <a:srgbClr val="028090"/>
                </a:solidFill>
                <a:latin typeface="Calibri" pitchFamily="34" charset="0"/>
                <a:ea typeface="Calibri" pitchFamily="34" charset="-122"/>
                <a:cs typeface="Calibri" pitchFamily="34" charset="-120"/>
              </a:rPr>
              <a:t>Institute</a:t>
            </a:r>
            <a:endParaRPr lang="en-US" sz="1250" dirty="0"/>
          </a:p>
        </p:txBody>
      </p:sp>
      <p:sp>
        <p:nvSpPr>
          <p:cNvPr id="17" name="Text 15"/>
          <p:cNvSpPr/>
          <p:nvPr/>
        </p:nvSpPr>
        <p:spPr>
          <a:xfrm>
            <a:off x="4754880" y="2898648"/>
            <a:ext cx="7040880" cy="320040"/>
          </a:xfrm>
          <a:prstGeom prst="rect">
            <a:avLst/>
          </a:prstGeom>
          <a:noFill/>
          <a:ln/>
        </p:spPr>
        <p:txBody>
          <a:bodyPr wrap="square" lIns="0" tIns="0" rIns="0" bIns="0" rtlCol="0" anchor="ctr"/>
          <a:lstStyle/>
          <a:p>
            <a:pPr indent="0" marL="0">
              <a:buNone/>
            </a:pPr>
            <a:r>
              <a:rPr lang="en-US" sz="1450" dirty="0">
                <a:solidFill>
                  <a:srgbClr val="16262B"/>
                </a:solidFill>
                <a:latin typeface="Calibri" pitchFamily="34" charset="0"/>
                <a:ea typeface="Calibri" pitchFamily="34" charset="-122"/>
                <a:cs typeface="Calibri" pitchFamily="34" charset="-120"/>
              </a:rPr>
              <a:t>IILM University, Greater Noida, U.P.</a:t>
            </a:r>
            <a:endParaRPr lang="en-US" sz="1450" dirty="0"/>
          </a:p>
        </p:txBody>
      </p:sp>
      <p:sp>
        <p:nvSpPr>
          <p:cNvPr id="18" name="Shape 16"/>
          <p:cNvSpPr/>
          <p:nvPr/>
        </p:nvSpPr>
        <p:spPr>
          <a:xfrm>
            <a:off x="4023360" y="3520440"/>
            <a:ext cx="502920" cy="502920"/>
          </a:xfrm>
          <a:prstGeom prst="ellipse">
            <a:avLst/>
          </a:prstGeom>
          <a:solidFill>
            <a:srgbClr val="DCEEEC"/>
          </a:solidFill>
          <a:ln/>
        </p:spPr>
      </p:sp>
      <p:sp>
        <p:nvSpPr>
          <p:cNvPr id="19" name="Text 17"/>
          <p:cNvSpPr/>
          <p:nvPr/>
        </p:nvSpPr>
        <p:spPr>
          <a:xfrm>
            <a:off x="4023360" y="3520440"/>
            <a:ext cx="502920" cy="50292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0" name="Text 18"/>
          <p:cNvSpPr/>
          <p:nvPr/>
        </p:nvSpPr>
        <p:spPr>
          <a:xfrm>
            <a:off x="4754880" y="3493008"/>
            <a:ext cx="6858000" cy="292608"/>
          </a:xfrm>
          <a:prstGeom prst="rect">
            <a:avLst/>
          </a:prstGeom>
          <a:noFill/>
          <a:ln/>
        </p:spPr>
        <p:txBody>
          <a:bodyPr wrap="square" lIns="0" tIns="0" rIns="0" bIns="0" rtlCol="0" anchor="ctr"/>
          <a:lstStyle/>
          <a:p>
            <a:pPr indent="0" marL="0">
              <a:buNone/>
            </a:pPr>
            <a:r>
              <a:rPr lang="en-US" sz="1250" b="1" dirty="0">
                <a:solidFill>
                  <a:srgbClr val="028090"/>
                </a:solidFill>
                <a:latin typeface="Calibri" pitchFamily="34" charset="0"/>
                <a:ea typeface="Calibri" pitchFamily="34" charset="-122"/>
                <a:cs typeface="Calibri" pitchFamily="34" charset="-120"/>
              </a:rPr>
              <a:t>Programme</a:t>
            </a:r>
            <a:endParaRPr lang="en-US" sz="1250" dirty="0"/>
          </a:p>
        </p:txBody>
      </p:sp>
      <p:sp>
        <p:nvSpPr>
          <p:cNvPr id="21" name="Text 19"/>
          <p:cNvSpPr/>
          <p:nvPr/>
        </p:nvSpPr>
        <p:spPr>
          <a:xfrm>
            <a:off x="4754880" y="3767328"/>
            <a:ext cx="7040880" cy="320040"/>
          </a:xfrm>
          <a:prstGeom prst="rect">
            <a:avLst/>
          </a:prstGeom>
          <a:noFill/>
          <a:ln/>
        </p:spPr>
        <p:txBody>
          <a:bodyPr wrap="square" lIns="0" tIns="0" rIns="0" bIns="0" rtlCol="0" anchor="ctr"/>
          <a:lstStyle/>
          <a:p>
            <a:pPr indent="0" marL="0">
              <a:buNone/>
            </a:pPr>
            <a:r>
              <a:rPr lang="en-US" sz="1450" dirty="0">
                <a:solidFill>
                  <a:srgbClr val="16262B"/>
                </a:solidFill>
                <a:latin typeface="Calibri" pitchFamily="34" charset="0"/>
                <a:ea typeface="Calibri" pitchFamily="34" charset="-122"/>
                <a:cs typeface="Calibri" pitchFamily="34" charset="-120"/>
              </a:rPr>
              <a:t>Data Science Master, AICTE–EduSkills Virtual Internship</a:t>
            </a:r>
            <a:endParaRPr lang="en-US" sz="1450" dirty="0"/>
          </a:p>
        </p:txBody>
      </p:sp>
      <p:sp>
        <p:nvSpPr>
          <p:cNvPr id="22" name="Shape 20"/>
          <p:cNvSpPr/>
          <p:nvPr/>
        </p:nvSpPr>
        <p:spPr>
          <a:xfrm>
            <a:off x="4023360" y="4389120"/>
            <a:ext cx="502920" cy="502920"/>
          </a:xfrm>
          <a:prstGeom prst="ellipse">
            <a:avLst/>
          </a:prstGeom>
          <a:solidFill>
            <a:srgbClr val="DCEEEC"/>
          </a:solidFill>
          <a:ln/>
        </p:spPr>
      </p:sp>
      <p:sp>
        <p:nvSpPr>
          <p:cNvPr id="23" name="Text 21"/>
          <p:cNvSpPr/>
          <p:nvPr/>
        </p:nvSpPr>
        <p:spPr>
          <a:xfrm>
            <a:off x="4023360" y="4389120"/>
            <a:ext cx="502920" cy="50292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4" name="Text 22"/>
          <p:cNvSpPr/>
          <p:nvPr/>
        </p:nvSpPr>
        <p:spPr>
          <a:xfrm>
            <a:off x="4754880" y="4361688"/>
            <a:ext cx="6858000" cy="292608"/>
          </a:xfrm>
          <a:prstGeom prst="rect">
            <a:avLst/>
          </a:prstGeom>
          <a:noFill/>
          <a:ln/>
        </p:spPr>
        <p:txBody>
          <a:bodyPr wrap="square" lIns="0" tIns="0" rIns="0" bIns="0" rtlCol="0" anchor="ctr"/>
          <a:lstStyle/>
          <a:p>
            <a:pPr indent="0" marL="0">
              <a:buNone/>
            </a:pPr>
            <a:r>
              <a:rPr lang="en-US" sz="1250" b="1" dirty="0">
                <a:solidFill>
                  <a:srgbClr val="028090"/>
                </a:solidFill>
                <a:latin typeface="Calibri" pitchFamily="34" charset="0"/>
                <a:ea typeface="Calibri" pitchFamily="34" charset="-122"/>
                <a:cs typeface="Calibri" pitchFamily="34" charset="-120"/>
              </a:rPr>
              <a:t>Internship Domain</a:t>
            </a:r>
            <a:endParaRPr lang="en-US" sz="1250" dirty="0"/>
          </a:p>
        </p:txBody>
      </p:sp>
      <p:sp>
        <p:nvSpPr>
          <p:cNvPr id="25" name="Text 23"/>
          <p:cNvSpPr/>
          <p:nvPr/>
        </p:nvSpPr>
        <p:spPr>
          <a:xfrm>
            <a:off x="4754880" y="4636008"/>
            <a:ext cx="7040880" cy="320040"/>
          </a:xfrm>
          <a:prstGeom prst="rect">
            <a:avLst/>
          </a:prstGeom>
          <a:noFill/>
          <a:ln/>
        </p:spPr>
        <p:txBody>
          <a:bodyPr wrap="square" lIns="0" tIns="0" rIns="0" bIns="0" rtlCol="0" anchor="ctr"/>
          <a:lstStyle/>
          <a:p>
            <a:pPr indent="0" marL="0">
              <a:buNone/>
            </a:pPr>
            <a:r>
              <a:rPr lang="en-US" sz="1450" dirty="0">
                <a:solidFill>
                  <a:srgbClr val="16262B"/>
                </a:solidFill>
                <a:latin typeface="Calibri" pitchFamily="34" charset="0"/>
                <a:ea typeface="Calibri" pitchFamily="34" charset="-122"/>
                <a:cs typeface="Calibri" pitchFamily="34" charset="-120"/>
              </a:rPr>
              <a:t>Data Science (Supported by Siemens)</a:t>
            </a:r>
            <a:endParaRPr lang="en-US" sz="1450" dirty="0"/>
          </a:p>
        </p:txBody>
      </p:sp>
      <p:sp>
        <p:nvSpPr>
          <p:cNvPr id="26" name="Shape 24"/>
          <p:cNvSpPr/>
          <p:nvPr/>
        </p:nvSpPr>
        <p:spPr>
          <a:xfrm>
            <a:off x="4023360" y="5257800"/>
            <a:ext cx="502920" cy="502920"/>
          </a:xfrm>
          <a:prstGeom prst="ellipse">
            <a:avLst/>
          </a:prstGeom>
          <a:solidFill>
            <a:srgbClr val="DCEEEC"/>
          </a:solidFill>
          <a:ln/>
        </p:spPr>
      </p:sp>
      <p:sp>
        <p:nvSpPr>
          <p:cNvPr id="27" name="Text 25"/>
          <p:cNvSpPr/>
          <p:nvPr/>
        </p:nvSpPr>
        <p:spPr>
          <a:xfrm>
            <a:off x="4023360" y="5257800"/>
            <a:ext cx="502920" cy="50292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8" name="Text 26"/>
          <p:cNvSpPr/>
          <p:nvPr/>
        </p:nvSpPr>
        <p:spPr>
          <a:xfrm>
            <a:off x="4754880" y="5230368"/>
            <a:ext cx="6858000" cy="292608"/>
          </a:xfrm>
          <a:prstGeom prst="rect">
            <a:avLst/>
          </a:prstGeom>
          <a:noFill/>
          <a:ln/>
        </p:spPr>
        <p:txBody>
          <a:bodyPr wrap="square" lIns="0" tIns="0" rIns="0" bIns="0" rtlCol="0" anchor="ctr"/>
          <a:lstStyle/>
          <a:p>
            <a:pPr indent="0" marL="0">
              <a:buNone/>
            </a:pPr>
            <a:r>
              <a:rPr lang="en-US" sz="1250" b="1" dirty="0">
                <a:solidFill>
                  <a:srgbClr val="028090"/>
                </a:solidFill>
                <a:latin typeface="Calibri" pitchFamily="34" charset="0"/>
                <a:ea typeface="Calibri" pitchFamily="34" charset="-122"/>
                <a:cs typeface="Calibri" pitchFamily="34" charset="-120"/>
              </a:rPr>
              <a:t>Duration</a:t>
            </a:r>
            <a:endParaRPr lang="en-US" sz="1250" dirty="0"/>
          </a:p>
        </p:txBody>
      </p:sp>
      <p:sp>
        <p:nvSpPr>
          <p:cNvPr id="29" name="Text 27"/>
          <p:cNvSpPr/>
          <p:nvPr/>
        </p:nvSpPr>
        <p:spPr>
          <a:xfrm>
            <a:off x="4754880" y="5504688"/>
            <a:ext cx="7040880" cy="320040"/>
          </a:xfrm>
          <a:prstGeom prst="rect">
            <a:avLst/>
          </a:prstGeom>
          <a:noFill/>
          <a:ln/>
        </p:spPr>
        <p:txBody>
          <a:bodyPr wrap="square" lIns="0" tIns="0" rIns="0" bIns="0" rtlCol="0" anchor="ctr"/>
          <a:lstStyle/>
          <a:p>
            <a:pPr indent="0" marL="0">
              <a:buNone/>
            </a:pPr>
            <a:r>
              <a:rPr lang="en-US" sz="1450" dirty="0">
                <a:solidFill>
                  <a:srgbClr val="16262B"/>
                </a:solidFill>
                <a:latin typeface="Calibri" pitchFamily="34" charset="0"/>
                <a:ea typeface="Calibri" pitchFamily="34" charset="-122"/>
                <a:cs typeface="Calibri" pitchFamily="34" charset="-120"/>
              </a:rPr>
              <a:t>8 Weeks | April – June 2026</a:t>
            </a:r>
            <a:endParaRPr lang="en-US" sz="1450" dirty="0"/>
          </a:p>
        </p:txBody>
      </p:sp>
      <p:sp>
        <p:nvSpPr>
          <p:cNvPr id="30" name="Text 28"/>
          <p:cNvSpPr/>
          <p:nvPr/>
        </p:nvSpPr>
        <p:spPr>
          <a:xfrm>
            <a:off x="457200" y="6537960"/>
            <a:ext cx="7315200" cy="274320"/>
          </a:xfrm>
          <a:prstGeom prst="rect">
            <a:avLst/>
          </a:prstGeom>
          <a:noFill/>
          <a:ln/>
        </p:spPr>
        <p:txBody>
          <a:bodyPr wrap="square" lIns="0" tIns="0" rIns="0" bIns="0" rtlCol="0" anchor="ctr"/>
          <a:lstStyle/>
          <a:p>
            <a:pPr algn="l" indent="0" marL="0">
              <a:buNone/>
            </a:pPr>
            <a:r>
              <a:rPr lang="en-US" sz="1000" dirty="0">
                <a:solidFill>
                  <a:srgbClr val="5B7278"/>
                </a:solidFill>
                <a:latin typeface="Calibri" pitchFamily="34" charset="0"/>
                <a:ea typeface="Calibri" pitchFamily="34" charset="-122"/>
                <a:cs typeface="Calibri" pitchFamily="34" charset="-120"/>
              </a:rPr>
              <a:t>Data Science Master Virtual Internship  •  Sanjana Kumari</a:t>
            </a:r>
            <a:endParaRPr lang="en-US" sz="1000" dirty="0"/>
          </a:p>
        </p:txBody>
      </p:sp>
      <p:sp>
        <p:nvSpPr>
          <p:cNvPr id="31" name="Text 29"/>
          <p:cNvSpPr/>
          <p:nvPr/>
        </p:nvSpPr>
        <p:spPr>
          <a:xfrm>
            <a:off x="11430000" y="6537960"/>
            <a:ext cx="457200" cy="274320"/>
          </a:xfrm>
          <a:prstGeom prst="rect">
            <a:avLst/>
          </a:prstGeom>
          <a:noFill/>
          <a:ln/>
        </p:spPr>
        <p:txBody>
          <a:bodyPr wrap="square" lIns="0" tIns="0" rIns="0" bIns="0" rtlCol="0" anchor="ctr"/>
          <a:lstStyle/>
          <a:p>
            <a:pPr algn="r" indent="0" marL="0">
              <a:buNone/>
            </a:pPr>
            <a:r>
              <a:rPr lang="en-US" sz="1000" dirty="0">
                <a:solidFill>
                  <a:srgbClr val="5B7278"/>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6F6"/>
        </a:solidFill>
      </p:bgPr>
    </p:bg>
    <p:spTree>
      <p:nvGrpSpPr>
        <p:cNvPr id="1" name=""/>
        <p:cNvGrpSpPr/>
        <p:nvPr/>
      </p:nvGrpSpPr>
      <p:grpSpPr>
        <a:xfrm>
          <a:off x="0" y="0"/>
          <a:ext cx="0" cy="0"/>
          <a:chOff x="0" y="0"/>
          <a:chExt cx="0" cy="0"/>
        </a:xfrm>
      </p:grpSpPr>
      <p:sp>
        <p:nvSpPr>
          <p:cNvPr id="2" name="Text 0"/>
          <p:cNvSpPr/>
          <p:nvPr/>
        </p:nvSpPr>
        <p:spPr>
          <a:xfrm>
            <a:off x="548640" y="502920"/>
            <a:ext cx="7315200" cy="320040"/>
          </a:xfrm>
          <a:prstGeom prst="rect">
            <a:avLst/>
          </a:prstGeom>
          <a:noFill/>
          <a:ln/>
        </p:spPr>
        <p:txBody>
          <a:bodyPr wrap="square" lIns="0" tIns="0" rIns="0" bIns="0" rtlCol="0" anchor="ctr"/>
          <a:lstStyle/>
          <a:p>
            <a:pPr algn="l" indent="0" marL="0">
              <a:buNone/>
            </a:pPr>
            <a:r>
              <a:rPr lang="en-US" sz="1200" b="1" spc="200" kern="0" dirty="0">
                <a:solidFill>
                  <a:srgbClr val="028090"/>
                </a:solidFill>
                <a:latin typeface="Calibri" pitchFamily="34" charset="0"/>
                <a:ea typeface="Calibri" pitchFamily="34" charset="-122"/>
                <a:cs typeface="Calibri" pitchFamily="34" charset="-120"/>
              </a:rPr>
              <a:t>ABOUT THE PROGRAM</a:t>
            </a:r>
            <a:endParaRPr lang="en-US" sz="1200" dirty="0"/>
          </a:p>
        </p:txBody>
      </p:sp>
      <p:sp>
        <p:nvSpPr>
          <p:cNvPr id="3" name="Text 1"/>
          <p:cNvSpPr/>
          <p:nvPr/>
        </p:nvSpPr>
        <p:spPr>
          <a:xfrm>
            <a:off x="548640" y="822960"/>
            <a:ext cx="10058400" cy="640080"/>
          </a:xfrm>
          <a:prstGeom prst="rect">
            <a:avLst/>
          </a:prstGeom>
          <a:noFill/>
          <a:ln/>
        </p:spPr>
        <p:txBody>
          <a:bodyPr wrap="square" lIns="0" tIns="0" rIns="0" bIns="0" rtlCol="0" anchor="ctr"/>
          <a:lstStyle/>
          <a:p>
            <a:pPr indent="0" marL="0">
              <a:buNone/>
            </a:pPr>
            <a:r>
              <a:rPr lang="en-US" sz="3200" b="1" dirty="0">
                <a:solidFill>
                  <a:srgbClr val="16262B"/>
                </a:solidFill>
                <a:latin typeface="Cambria" pitchFamily="34" charset="0"/>
                <a:ea typeface="Cambria" pitchFamily="34" charset="-122"/>
                <a:cs typeface="Cambria" pitchFamily="34" charset="-120"/>
              </a:rPr>
              <a:t>EduSkills, AICTE &amp; Siemens</a:t>
            </a:r>
            <a:endParaRPr lang="en-US" sz="3200" dirty="0"/>
          </a:p>
        </p:txBody>
      </p:sp>
      <p:sp>
        <p:nvSpPr>
          <p:cNvPr id="4" name="Text 2"/>
          <p:cNvSpPr/>
          <p:nvPr/>
        </p:nvSpPr>
        <p:spPr>
          <a:xfrm>
            <a:off x="548640" y="1508760"/>
            <a:ext cx="11064240" cy="1051560"/>
          </a:xfrm>
          <a:prstGeom prst="rect">
            <a:avLst/>
          </a:prstGeom>
          <a:noFill/>
          <a:ln/>
        </p:spPr>
        <p:txBody>
          <a:bodyPr wrap="square" lIns="0" tIns="0" rIns="0" bIns="0" rtlCol="0" anchor="t"/>
          <a:lstStyle/>
          <a:p>
            <a:pPr indent="0" marL="0">
              <a:lnSpc>
                <a:spcPct val="115000"/>
              </a:lnSpc>
              <a:buNone/>
            </a:pPr>
            <a:r>
              <a:rPr lang="en-US" sz="1350" dirty="0">
                <a:solidFill>
                  <a:srgbClr val="16262B"/>
                </a:solidFill>
                <a:latin typeface="Calibri" pitchFamily="34" charset="0"/>
                <a:ea typeface="Calibri" pitchFamily="34" charset="-122"/>
                <a:cs typeface="Calibri" pitchFamily="34" charset="-120"/>
              </a:rPr>
              <a:t>EduSkills Foundation is a non-profit organisation building an Industry 4.0-ready digital workforce in India. It partners with the All India Council for Technical Education (AICTE) to run the AICTE–EduSkills Virtual Internship Program under the AICTE National Internship Portal. For the Data Science Master track, EduSkills collaborates with Siemens, whose Altair/RapidMiner Academy delivers an industry-aligned, no-code-to-code data science curriculum through structured learning modules and a capstone project.</a:t>
            </a:r>
            <a:endParaRPr lang="en-US" sz="1350" dirty="0"/>
          </a:p>
        </p:txBody>
      </p:sp>
      <p:sp>
        <p:nvSpPr>
          <p:cNvPr id="5" name="Shape 3"/>
          <p:cNvSpPr/>
          <p:nvPr/>
        </p:nvSpPr>
        <p:spPr>
          <a:xfrm>
            <a:off x="548640" y="2926080"/>
            <a:ext cx="3566160" cy="2606040"/>
          </a:xfrm>
          <a:prstGeom prst="roundRect">
            <a:avLst>
              <a:gd name="adj" fmla="val 2807"/>
            </a:avLst>
          </a:prstGeom>
          <a:solidFill>
            <a:srgbClr val="FFFFFF"/>
          </a:solidFill>
          <a:ln/>
          <a:effectLst>
            <a:outerShdw sx="100000" sy="100000" kx="0" ky="0" algn="bl" rotWithShape="0" blurRad="101600" dist="38100" dir="5400000">
              <a:srgbClr val="1F2A2E">
                <a:alpha val="12000"/>
              </a:srgbClr>
            </a:outerShdw>
          </a:effectLst>
        </p:spPr>
      </p:sp>
      <p:sp>
        <p:nvSpPr>
          <p:cNvPr id="6" name="Shape 4"/>
          <p:cNvSpPr/>
          <p:nvPr/>
        </p:nvSpPr>
        <p:spPr>
          <a:xfrm>
            <a:off x="1874520" y="3200400"/>
            <a:ext cx="914400" cy="914400"/>
          </a:xfrm>
          <a:prstGeom prst="ellipse">
            <a:avLst/>
          </a:prstGeom>
          <a:solidFill>
            <a:srgbClr val="DCEEEC"/>
          </a:solidFill>
          <a:ln/>
        </p:spPr>
      </p:sp>
      <p:sp>
        <p:nvSpPr>
          <p:cNvPr id="7" name="Text 5"/>
          <p:cNvSpPr/>
          <p:nvPr/>
        </p:nvSpPr>
        <p:spPr>
          <a:xfrm>
            <a:off x="1874520" y="3200400"/>
            <a:ext cx="914400" cy="91440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8" name="Text 6"/>
          <p:cNvSpPr/>
          <p:nvPr/>
        </p:nvSpPr>
        <p:spPr>
          <a:xfrm>
            <a:off x="777240" y="4251960"/>
            <a:ext cx="3108960" cy="365760"/>
          </a:xfrm>
          <a:prstGeom prst="rect">
            <a:avLst/>
          </a:prstGeom>
          <a:noFill/>
          <a:ln/>
        </p:spPr>
        <p:txBody>
          <a:bodyPr wrap="square" lIns="0" tIns="0" rIns="0" bIns="0" rtlCol="0" anchor="ctr"/>
          <a:lstStyle/>
          <a:p>
            <a:pPr algn="ctr" indent="0" marL="0">
              <a:buNone/>
            </a:pPr>
            <a:r>
              <a:rPr lang="en-US" sz="1500" b="1" dirty="0">
                <a:solidFill>
                  <a:srgbClr val="16262B"/>
                </a:solidFill>
                <a:latin typeface="Calibri" pitchFamily="34" charset="0"/>
                <a:ea typeface="Calibri" pitchFamily="34" charset="-122"/>
                <a:cs typeface="Calibri" pitchFamily="34" charset="-120"/>
              </a:rPr>
              <a:t>Nation Building</a:t>
            </a:r>
            <a:endParaRPr lang="en-US" sz="1500" dirty="0"/>
          </a:p>
        </p:txBody>
      </p:sp>
      <p:sp>
        <p:nvSpPr>
          <p:cNvPr id="9" name="Text 7"/>
          <p:cNvSpPr/>
          <p:nvPr/>
        </p:nvSpPr>
        <p:spPr>
          <a:xfrm>
            <a:off x="777240" y="4645152"/>
            <a:ext cx="3108960" cy="777240"/>
          </a:xfrm>
          <a:prstGeom prst="rect">
            <a:avLst/>
          </a:prstGeom>
          <a:noFill/>
          <a:ln/>
        </p:spPr>
        <p:txBody>
          <a:bodyPr wrap="square" lIns="0" tIns="0" rIns="0" bIns="0" rtlCol="0" anchor="t"/>
          <a:lstStyle/>
          <a:p>
            <a:pPr algn="ctr" indent="0" marL="0">
              <a:buNone/>
            </a:pPr>
            <a:r>
              <a:rPr lang="en-US" sz="1100" dirty="0">
                <a:solidFill>
                  <a:srgbClr val="5B7278"/>
                </a:solidFill>
                <a:latin typeface="Calibri" pitchFamily="34" charset="0"/>
                <a:ea typeface="Calibri" pitchFamily="34" charset="-122"/>
                <a:cs typeface="Calibri" pitchFamily="34" charset="-120"/>
              </a:rPr>
              <a:t>EduSkills works under the theme “Nation Building Through Skills” for India's students.</a:t>
            </a:r>
            <a:endParaRPr lang="en-US" sz="1100" dirty="0"/>
          </a:p>
        </p:txBody>
      </p:sp>
      <p:sp>
        <p:nvSpPr>
          <p:cNvPr id="10" name="Shape 8"/>
          <p:cNvSpPr/>
          <p:nvPr/>
        </p:nvSpPr>
        <p:spPr>
          <a:xfrm>
            <a:off x="4343400" y="2926080"/>
            <a:ext cx="3566160" cy="2606040"/>
          </a:xfrm>
          <a:prstGeom prst="roundRect">
            <a:avLst>
              <a:gd name="adj" fmla="val 2807"/>
            </a:avLst>
          </a:prstGeom>
          <a:solidFill>
            <a:srgbClr val="FFFFFF"/>
          </a:solidFill>
          <a:ln/>
          <a:effectLst>
            <a:outerShdw sx="100000" sy="100000" kx="0" ky="0" algn="bl" rotWithShape="0" blurRad="101600" dist="38100" dir="5400000">
              <a:srgbClr val="1F2A2E">
                <a:alpha val="12000"/>
              </a:srgbClr>
            </a:outerShdw>
          </a:effectLst>
        </p:spPr>
      </p:sp>
      <p:sp>
        <p:nvSpPr>
          <p:cNvPr id="11" name="Shape 9"/>
          <p:cNvSpPr/>
          <p:nvPr/>
        </p:nvSpPr>
        <p:spPr>
          <a:xfrm>
            <a:off x="5669280" y="3200400"/>
            <a:ext cx="914400" cy="914400"/>
          </a:xfrm>
          <a:prstGeom prst="ellipse">
            <a:avLst/>
          </a:prstGeom>
          <a:solidFill>
            <a:srgbClr val="DCEEEC"/>
          </a:solidFill>
          <a:ln/>
        </p:spPr>
      </p:sp>
      <p:sp>
        <p:nvSpPr>
          <p:cNvPr id="12" name="Text 10"/>
          <p:cNvSpPr/>
          <p:nvPr/>
        </p:nvSpPr>
        <p:spPr>
          <a:xfrm>
            <a:off x="5669280" y="3200400"/>
            <a:ext cx="914400" cy="91440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13" name="Text 11"/>
          <p:cNvSpPr/>
          <p:nvPr/>
        </p:nvSpPr>
        <p:spPr>
          <a:xfrm>
            <a:off x="4572000" y="4251960"/>
            <a:ext cx="3108960" cy="365760"/>
          </a:xfrm>
          <a:prstGeom prst="rect">
            <a:avLst/>
          </a:prstGeom>
          <a:noFill/>
          <a:ln/>
        </p:spPr>
        <p:txBody>
          <a:bodyPr wrap="square" lIns="0" tIns="0" rIns="0" bIns="0" rtlCol="0" anchor="ctr"/>
          <a:lstStyle/>
          <a:p>
            <a:pPr algn="ctr" indent="0" marL="0">
              <a:buNone/>
            </a:pPr>
            <a:r>
              <a:rPr lang="en-US" sz="1500" b="1" dirty="0">
                <a:solidFill>
                  <a:srgbClr val="16262B"/>
                </a:solidFill>
                <a:latin typeface="Calibri" pitchFamily="34" charset="0"/>
                <a:ea typeface="Calibri" pitchFamily="34" charset="-122"/>
                <a:cs typeface="Calibri" pitchFamily="34" charset="-120"/>
              </a:rPr>
              <a:t>AICTE Patronage</a:t>
            </a:r>
            <a:endParaRPr lang="en-US" sz="1500" dirty="0"/>
          </a:p>
        </p:txBody>
      </p:sp>
      <p:sp>
        <p:nvSpPr>
          <p:cNvPr id="14" name="Text 12"/>
          <p:cNvSpPr/>
          <p:nvPr/>
        </p:nvSpPr>
        <p:spPr>
          <a:xfrm>
            <a:off x="4572000" y="4645152"/>
            <a:ext cx="3108960" cy="777240"/>
          </a:xfrm>
          <a:prstGeom prst="rect">
            <a:avLst/>
          </a:prstGeom>
          <a:noFill/>
          <a:ln/>
        </p:spPr>
        <p:txBody>
          <a:bodyPr wrap="square" lIns="0" tIns="0" rIns="0" bIns="0" rtlCol="0" anchor="t"/>
          <a:lstStyle/>
          <a:p>
            <a:pPr algn="ctr" indent="0" marL="0">
              <a:buNone/>
            </a:pPr>
            <a:r>
              <a:rPr lang="en-US" sz="1100" dirty="0">
                <a:solidFill>
                  <a:srgbClr val="5B7278"/>
                </a:solidFill>
                <a:latin typeface="Calibri" pitchFamily="34" charset="0"/>
                <a:ea typeface="Calibri" pitchFamily="34" charset="-122"/>
                <a:cs typeface="Calibri" pitchFamily="34" charset="-120"/>
              </a:rPr>
              <a:t>Run under the AICTE National Internship Portal, jointly certified with the Ministry of Education.</a:t>
            </a:r>
            <a:endParaRPr lang="en-US" sz="1100" dirty="0"/>
          </a:p>
        </p:txBody>
      </p:sp>
      <p:sp>
        <p:nvSpPr>
          <p:cNvPr id="15" name="Shape 13"/>
          <p:cNvSpPr/>
          <p:nvPr/>
        </p:nvSpPr>
        <p:spPr>
          <a:xfrm>
            <a:off x="8138160" y="2926080"/>
            <a:ext cx="3566160" cy="2606040"/>
          </a:xfrm>
          <a:prstGeom prst="roundRect">
            <a:avLst>
              <a:gd name="adj" fmla="val 2807"/>
            </a:avLst>
          </a:prstGeom>
          <a:solidFill>
            <a:srgbClr val="FFFFFF"/>
          </a:solidFill>
          <a:ln/>
          <a:effectLst>
            <a:outerShdw sx="100000" sy="100000" kx="0" ky="0" algn="bl" rotWithShape="0" blurRad="101600" dist="38100" dir="5400000">
              <a:srgbClr val="1F2A2E">
                <a:alpha val="12000"/>
              </a:srgbClr>
            </a:outerShdw>
          </a:effectLst>
        </p:spPr>
      </p:sp>
      <p:sp>
        <p:nvSpPr>
          <p:cNvPr id="16" name="Shape 14"/>
          <p:cNvSpPr/>
          <p:nvPr/>
        </p:nvSpPr>
        <p:spPr>
          <a:xfrm>
            <a:off x="9464040" y="3200400"/>
            <a:ext cx="914400" cy="914400"/>
          </a:xfrm>
          <a:prstGeom prst="ellipse">
            <a:avLst/>
          </a:prstGeom>
          <a:solidFill>
            <a:srgbClr val="DCEEEC"/>
          </a:solidFill>
          <a:ln/>
        </p:spPr>
      </p:sp>
      <p:sp>
        <p:nvSpPr>
          <p:cNvPr id="17" name="Text 15"/>
          <p:cNvSpPr/>
          <p:nvPr/>
        </p:nvSpPr>
        <p:spPr>
          <a:xfrm>
            <a:off x="9464040" y="3200400"/>
            <a:ext cx="914400" cy="91440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18" name="Text 16"/>
          <p:cNvSpPr/>
          <p:nvPr/>
        </p:nvSpPr>
        <p:spPr>
          <a:xfrm>
            <a:off x="8366760" y="4251960"/>
            <a:ext cx="3108960" cy="365760"/>
          </a:xfrm>
          <a:prstGeom prst="rect">
            <a:avLst/>
          </a:prstGeom>
          <a:noFill/>
          <a:ln/>
        </p:spPr>
        <p:txBody>
          <a:bodyPr wrap="square" lIns="0" tIns="0" rIns="0" bIns="0" rtlCol="0" anchor="ctr"/>
          <a:lstStyle/>
          <a:p>
            <a:pPr algn="ctr" indent="0" marL="0">
              <a:buNone/>
            </a:pPr>
            <a:r>
              <a:rPr lang="en-US" sz="1500" b="1" dirty="0">
                <a:solidFill>
                  <a:srgbClr val="16262B"/>
                </a:solidFill>
                <a:latin typeface="Calibri" pitchFamily="34" charset="0"/>
                <a:ea typeface="Calibri" pitchFamily="34" charset="-122"/>
                <a:cs typeface="Calibri" pitchFamily="34" charset="-120"/>
              </a:rPr>
              <a:t>Siemens Support</a:t>
            </a:r>
            <a:endParaRPr lang="en-US" sz="1500" dirty="0"/>
          </a:p>
        </p:txBody>
      </p:sp>
      <p:sp>
        <p:nvSpPr>
          <p:cNvPr id="19" name="Text 17"/>
          <p:cNvSpPr/>
          <p:nvPr/>
        </p:nvSpPr>
        <p:spPr>
          <a:xfrm>
            <a:off x="8366760" y="4645152"/>
            <a:ext cx="3108960" cy="777240"/>
          </a:xfrm>
          <a:prstGeom prst="rect">
            <a:avLst/>
          </a:prstGeom>
          <a:noFill/>
          <a:ln/>
        </p:spPr>
        <p:txBody>
          <a:bodyPr wrap="square" lIns="0" tIns="0" rIns="0" bIns="0" rtlCol="0" anchor="t"/>
          <a:lstStyle/>
          <a:p>
            <a:pPr algn="ctr" indent="0" marL="0">
              <a:buNone/>
            </a:pPr>
            <a:r>
              <a:rPr lang="en-US" sz="1100" dirty="0">
                <a:solidFill>
                  <a:srgbClr val="5B7278"/>
                </a:solidFill>
                <a:latin typeface="Calibri" pitchFamily="34" charset="0"/>
                <a:ea typeface="Calibri" pitchFamily="34" charset="-122"/>
                <a:cs typeface="Calibri" pitchFamily="34" charset="-120"/>
              </a:rPr>
              <a:t>Industry curriculum delivered via Siemens' Altair/RapidMiner Academy learning pathways.</a:t>
            </a:r>
            <a:endParaRPr lang="en-US" sz="1100" dirty="0"/>
          </a:p>
        </p:txBody>
      </p:sp>
      <p:sp>
        <p:nvSpPr>
          <p:cNvPr id="20" name="Text 18"/>
          <p:cNvSpPr/>
          <p:nvPr/>
        </p:nvSpPr>
        <p:spPr>
          <a:xfrm>
            <a:off x="457200" y="6537960"/>
            <a:ext cx="7315200" cy="274320"/>
          </a:xfrm>
          <a:prstGeom prst="rect">
            <a:avLst/>
          </a:prstGeom>
          <a:noFill/>
          <a:ln/>
        </p:spPr>
        <p:txBody>
          <a:bodyPr wrap="square" lIns="0" tIns="0" rIns="0" bIns="0" rtlCol="0" anchor="ctr"/>
          <a:lstStyle/>
          <a:p>
            <a:pPr algn="l" indent="0" marL="0">
              <a:buNone/>
            </a:pPr>
            <a:r>
              <a:rPr lang="en-US" sz="1000" dirty="0">
                <a:solidFill>
                  <a:srgbClr val="5B7278"/>
                </a:solidFill>
                <a:latin typeface="Calibri" pitchFamily="34" charset="0"/>
                <a:ea typeface="Calibri" pitchFamily="34" charset="-122"/>
                <a:cs typeface="Calibri" pitchFamily="34" charset="-120"/>
              </a:rPr>
              <a:t>Data Science Master Virtual Internship  •  Sanjana Kumari</a:t>
            </a:r>
            <a:endParaRPr lang="en-US" sz="1000" dirty="0"/>
          </a:p>
        </p:txBody>
      </p:sp>
      <p:sp>
        <p:nvSpPr>
          <p:cNvPr id="21" name="Text 19"/>
          <p:cNvSpPr/>
          <p:nvPr/>
        </p:nvSpPr>
        <p:spPr>
          <a:xfrm>
            <a:off x="11430000" y="6537960"/>
            <a:ext cx="457200" cy="274320"/>
          </a:xfrm>
          <a:prstGeom prst="rect">
            <a:avLst/>
          </a:prstGeom>
          <a:noFill/>
          <a:ln/>
        </p:spPr>
        <p:txBody>
          <a:bodyPr wrap="square" lIns="0" tIns="0" rIns="0" bIns="0" rtlCol="0" anchor="ctr"/>
          <a:lstStyle/>
          <a:p>
            <a:pPr algn="r" indent="0" marL="0">
              <a:buNone/>
            </a:pPr>
            <a:r>
              <a:rPr lang="en-US" sz="1000" dirty="0">
                <a:solidFill>
                  <a:srgbClr val="5B7278"/>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7315200" cy="320040"/>
          </a:xfrm>
          <a:prstGeom prst="rect">
            <a:avLst/>
          </a:prstGeom>
          <a:noFill/>
          <a:ln/>
        </p:spPr>
        <p:txBody>
          <a:bodyPr wrap="square" lIns="0" tIns="0" rIns="0" bIns="0" rtlCol="0" anchor="ctr"/>
          <a:lstStyle/>
          <a:p>
            <a:pPr algn="l" indent="0" marL="0">
              <a:buNone/>
            </a:pPr>
            <a:r>
              <a:rPr lang="en-US" sz="1200" b="1" spc="200" kern="0" dirty="0">
                <a:solidFill>
                  <a:srgbClr val="028090"/>
                </a:solidFill>
                <a:latin typeface="Calibri" pitchFamily="34" charset="0"/>
                <a:ea typeface="Calibri" pitchFamily="34" charset="-122"/>
                <a:cs typeface="Calibri" pitchFamily="34" charset="-120"/>
              </a:rPr>
              <a:t>PROBLEM STATEMENT</a:t>
            </a:r>
            <a:endParaRPr lang="en-US" sz="1200" dirty="0"/>
          </a:p>
        </p:txBody>
      </p:sp>
      <p:sp>
        <p:nvSpPr>
          <p:cNvPr id="3" name="Text 1"/>
          <p:cNvSpPr/>
          <p:nvPr/>
        </p:nvSpPr>
        <p:spPr>
          <a:xfrm>
            <a:off x="548640" y="822960"/>
            <a:ext cx="10972800" cy="640080"/>
          </a:xfrm>
          <a:prstGeom prst="rect">
            <a:avLst/>
          </a:prstGeom>
          <a:noFill/>
          <a:ln/>
        </p:spPr>
        <p:txBody>
          <a:bodyPr wrap="square" lIns="0" tIns="0" rIns="0" bIns="0" rtlCol="0" anchor="ctr"/>
          <a:lstStyle/>
          <a:p>
            <a:pPr indent="0" marL="0">
              <a:buNone/>
            </a:pPr>
            <a:r>
              <a:rPr lang="en-US" sz="3200" b="1" dirty="0">
                <a:solidFill>
                  <a:srgbClr val="16262B"/>
                </a:solidFill>
                <a:latin typeface="Cambria" pitchFamily="34" charset="0"/>
                <a:ea typeface="Cambria" pitchFamily="34" charset="-122"/>
                <a:cs typeface="Cambria" pitchFamily="34" charset="-120"/>
              </a:rPr>
              <a:t>Bridging Theory and Applied Data Science</a:t>
            </a:r>
            <a:endParaRPr lang="en-US" sz="3200" dirty="0"/>
          </a:p>
        </p:txBody>
      </p:sp>
      <p:sp>
        <p:nvSpPr>
          <p:cNvPr id="4" name="Shape 2"/>
          <p:cNvSpPr/>
          <p:nvPr/>
        </p:nvSpPr>
        <p:spPr>
          <a:xfrm>
            <a:off x="548640" y="1691640"/>
            <a:ext cx="11064240" cy="1417320"/>
          </a:xfrm>
          <a:prstGeom prst="roundRect">
            <a:avLst>
              <a:gd name="adj" fmla="val 3871"/>
            </a:avLst>
          </a:prstGeom>
          <a:solidFill>
            <a:srgbClr val="F0F6F6"/>
          </a:solidFill>
          <a:ln/>
        </p:spPr>
      </p:sp>
      <p:sp>
        <p:nvSpPr>
          <p:cNvPr id="5" name="Text 3"/>
          <p:cNvSpPr/>
          <p:nvPr/>
        </p:nvSpPr>
        <p:spPr>
          <a:xfrm>
            <a:off x="868680" y="1874520"/>
            <a:ext cx="10424160" cy="1097280"/>
          </a:xfrm>
          <a:prstGeom prst="rect">
            <a:avLst/>
          </a:prstGeom>
          <a:noFill/>
          <a:ln/>
        </p:spPr>
        <p:txBody>
          <a:bodyPr wrap="square" lIns="0" tIns="0" rIns="0" bIns="0" rtlCol="0" anchor="t"/>
          <a:lstStyle/>
          <a:p>
            <a:pPr indent="0" marL="0">
              <a:lnSpc>
                <a:spcPct val="115000"/>
              </a:lnSpc>
              <a:buNone/>
            </a:pPr>
            <a:r>
              <a:rPr lang="en-US" sz="1300" dirty="0">
                <a:solidFill>
                  <a:srgbClr val="16262B"/>
                </a:solidFill>
                <a:latin typeface="Calibri" pitchFamily="34" charset="0"/>
                <a:ea typeface="Calibri" pitchFamily="34" charset="-122"/>
                <a:cs typeface="Calibri" pitchFamily="34" charset="-120"/>
              </a:rPr>
              <a:t>Although many students learn statistics and machine learning theory in coursework, very few get structured, hands-on exposure to the full data science lifecycle — from cleaning messy real-world data to building, evaluating and communicating predictive models. Concepts such as regression, classification and model tuning are often understood only theoretically, with little practice applying them to real datasets using industry tools.</a:t>
            </a:r>
            <a:endParaRPr lang="en-US" sz="1300" dirty="0"/>
          </a:p>
        </p:txBody>
      </p:sp>
      <p:sp>
        <p:nvSpPr>
          <p:cNvPr id="6" name="Text 4"/>
          <p:cNvSpPr/>
          <p:nvPr/>
        </p:nvSpPr>
        <p:spPr>
          <a:xfrm>
            <a:off x="548640" y="3429000"/>
            <a:ext cx="10515600" cy="365760"/>
          </a:xfrm>
          <a:prstGeom prst="rect">
            <a:avLst/>
          </a:prstGeom>
          <a:noFill/>
          <a:ln/>
        </p:spPr>
        <p:txBody>
          <a:bodyPr wrap="square" lIns="0" tIns="0" rIns="0" bIns="0" rtlCol="0" anchor="ctr"/>
          <a:lstStyle/>
          <a:p>
            <a:pPr indent="0" marL="0">
              <a:buNone/>
            </a:pPr>
            <a:r>
              <a:rPr lang="en-US" sz="1350" b="1" dirty="0">
                <a:solidFill>
                  <a:srgbClr val="16262B"/>
                </a:solidFill>
                <a:latin typeface="Calibri" pitchFamily="34" charset="0"/>
                <a:ea typeface="Calibri" pitchFamily="34" charset="-122"/>
                <a:cs typeface="Calibri" pitchFamily="34" charset="-120"/>
              </a:rPr>
              <a:t>This internship addressed that gap — practically learning the full data science workflow:</a:t>
            </a:r>
            <a:endParaRPr lang="en-US" sz="1350" dirty="0"/>
          </a:p>
        </p:txBody>
      </p:sp>
      <p:sp>
        <p:nvSpPr>
          <p:cNvPr id="7" name="Shape 5"/>
          <p:cNvSpPr/>
          <p:nvPr/>
        </p:nvSpPr>
        <p:spPr>
          <a:xfrm>
            <a:off x="548640" y="3977640"/>
            <a:ext cx="2514600" cy="1417320"/>
          </a:xfrm>
          <a:prstGeom prst="roundRect">
            <a:avLst>
              <a:gd name="adj" fmla="val 5161"/>
            </a:avLst>
          </a:prstGeom>
          <a:solidFill>
            <a:srgbClr val="028090"/>
          </a:solidFill>
          <a:ln/>
        </p:spPr>
      </p:sp>
      <p:sp>
        <p:nvSpPr>
          <p:cNvPr id="8" name="Text 6"/>
          <p:cNvSpPr/>
          <p:nvPr/>
        </p:nvSpPr>
        <p:spPr>
          <a:xfrm>
            <a:off x="548640" y="3977640"/>
            <a:ext cx="2514600" cy="14173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Explore Data</a:t>
            </a:r>
            <a:endParaRPr lang="en-US" sz="1500" dirty="0"/>
          </a:p>
        </p:txBody>
      </p:sp>
      <p:sp>
        <p:nvSpPr>
          <p:cNvPr id="9" name="Text 7"/>
          <p:cNvSpPr/>
          <p:nvPr/>
        </p:nvSpPr>
        <p:spPr>
          <a:xfrm>
            <a:off x="3063240" y="3977640"/>
            <a:ext cx="384048" cy="1417320"/>
          </a:xfrm>
          <a:prstGeom prst="rect">
            <a:avLst/>
          </a:prstGeom>
          <a:noFill/>
          <a:ln/>
        </p:spPr>
        <p:txBody>
          <a:bodyPr wrap="square" lIns="0" tIns="0" rIns="0" bIns="0" rtlCol="0" anchor="ctr"/>
          <a:lstStyle/>
          <a:p>
            <a:pPr algn="ctr" indent="0" marL="0">
              <a:buNone/>
            </a:pPr>
            <a:r>
              <a:rPr lang="en-US" sz="2200" b="1" dirty="0">
                <a:solidFill>
                  <a:srgbClr val="028090"/>
                </a:solidFill>
                <a:latin typeface="Calibri" pitchFamily="34" charset="0"/>
                <a:ea typeface="Calibri" pitchFamily="34" charset="-122"/>
                <a:cs typeface="Calibri" pitchFamily="34" charset="-120"/>
              </a:rPr>
              <a:t>→</a:t>
            </a:r>
            <a:endParaRPr lang="en-US" sz="2200" dirty="0"/>
          </a:p>
        </p:txBody>
      </p:sp>
      <p:sp>
        <p:nvSpPr>
          <p:cNvPr id="10" name="Shape 8"/>
          <p:cNvSpPr/>
          <p:nvPr/>
        </p:nvSpPr>
        <p:spPr>
          <a:xfrm>
            <a:off x="3447288" y="3977640"/>
            <a:ext cx="2514600" cy="1417320"/>
          </a:xfrm>
          <a:prstGeom prst="roundRect">
            <a:avLst>
              <a:gd name="adj" fmla="val 5161"/>
            </a:avLst>
          </a:prstGeom>
          <a:solidFill>
            <a:srgbClr val="028090"/>
          </a:solidFill>
          <a:ln/>
        </p:spPr>
      </p:sp>
      <p:sp>
        <p:nvSpPr>
          <p:cNvPr id="11" name="Text 9"/>
          <p:cNvSpPr/>
          <p:nvPr/>
        </p:nvSpPr>
        <p:spPr>
          <a:xfrm>
            <a:off x="3447288" y="3977640"/>
            <a:ext cx="2514600" cy="14173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Build Models</a:t>
            </a:r>
            <a:endParaRPr lang="en-US" sz="1500" dirty="0"/>
          </a:p>
        </p:txBody>
      </p:sp>
      <p:sp>
        <p:nvSpPr>
          <p:cNvPr id="12" name="Text 10"/>
          <p:cNvSpPr/>
          <p:nvPr/>
        </p:nvSpPr>
        <p:spPr>
          <a:xfrm>
            <a:off x="5961888" y="3977640"/>
            <a:ext cx="384048" cy="1417320"/>
          </a:xfrm>
          <a:prstGeom prst="rect">
            <a:avLst/>
          </a:prstGeom>
          <a:noFill/>
          <a:ln/>
        </p:spPr>
        <p:txBody>
          <a:bodyPr wrap="square" lIns="0" tIns="0" rIns="0" bIns="0" rtlCol="0" anchor="ctr"/>
          <a:lstStyle/>
          <a:p>
            <a:pPr algn="ctr" indent="0" marL="0">
              <a:buNone/>
            </a:pPr>
            <a:r>
              <a:rPr lang="en-US" sz="2200" b="1" dirty="0">
                <a:solidFill>
                  <a:srgbClr val="028090"/>
                </a:solidFill>
                <a:latin typeface="Calibri" pitchFamily="34" charset="0"/>
                <a:ea typeface="Calibri" pitchFamily="34" charset="-122"/>
                <a:cs typeface="Calibri" pitchFamily="34" charset="-120"/>
              </a:rPr>
              <a:t>→</a:t>
            </a:r>
            <a:endParaRPr lang="en-US" sz="2200" dirty="0"/>
          </a:p>
        </p:txBody>
      </p:sp>
      <p:sp>
        <p:nvSpPr>
          <p:cNvPr id="13" name="Shape 11"/>
          <p:cNvSpPr/>
          <p:nvPr/>
        </p:nvSpPr>
        <p:spPr>
          <a:xfrm>
            <a:off x="6345936" y="3977640"/>
            <a:ext cx="2514600" cy="1417320"/>
          </a:xfrm>
          <a:prstGeom prst="roundRect">
            <a:avLst>
              <a:gd name="adj" fmla="val 5161"/>
            </a:avLst>
          </a:prstGeom>
          <a:solidFill>
            <a:srgbClr val="028090"/>
          </a:solidFill>
          <a:ln/>
        </p:spPr>
      </p:sp>
      <p:sp>
        <p:nvSpPr>
          <p:cNvPr id="14" name="Text 12"/>
          <p:cNvSpPr/>
          <p:nvPr/>
        </p:nvSpPr>
        <p:spPr>
          <a:xfrm>
            <a:off x="6345936" y="3977640"/>
            <a:ext cx="2514600" cy="14173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Evaluate &amp; Tune</a:t>
            </a:r>
            <a:endParaRPr lang="en-US" sz="1500" dirty="0"/>
          </a:p>
        </p:txBody>
      </p:sp>
      <p:sp>
        <p:nvSpPr>
          <p:cNvPr id="15" name="Text 13"/>
          <p:cNvSpPr/>
          <p:nvPr/>
        </p:nvSpPr>
        <p:spPr>
          <a:xfrm>
            <a:off x="8860536" y="3977640"/>
            <a:ext cx="384048" cy="1417320"/>
          </a:xfrm>
          <a:prstGeom prst="rect">
            <a:avLst/>
          </a:prstGeom>
          <a:noFill/>
          <a:ln/>
        </p:spPr>
        <p:txBody>
          <a:bodyPr wrap="square" lIns="0" tIns="0" rIns="0" bIns="0" rtlCol="0" anchor="ctr"/>
          <a:lstStyle/>
          <a:p>
            <a:pPr algn="ctr" indent="0" marL="0">
              <a:buNone/>
            </a:pPr>
            <a:r>
              <a:rPr lang="en-US" sz="2200" b="1" dirty="0">
                <a:solidFill>
                  <a:srgbClr val="028090"/>
                </a:solidFill>
                <a:latin typeface="Calibri" pitchFamily="34" charset="0"/>
                <a:ea typeface="Calibri" pitchFamily="34" charset="-122"/>
                <a:cs typeface="Calibri" pitchFamily="34" charset="-120"/>
              </a:rPr>
              <a:t>→</a:t>
            </a:r>
            <a:endParaRPr lang="en-US" sz="2200" dirty="0"/>
          </a:p>
        </p:txBody>
      </p:sp>
      <p:sp>
        <p:nvSpPr>
          <p:cNvPr id="16" name="Shape 14"/>
          <p:cNvSpPr/>
          <p:nvPr/>
        </p:nvSpPr>
        <p:spPr>
          <a:xfrm>
            <a:off x="9244584" y="3977640"/>
            <a:ext cx="2514600" cy="1417320"/>
          </a:xfrm>
          <a:prstGeom prst="roundRect">
            <a:avLst>
              <a:gd name="adj" fmla="val 5161"/>
            </a:avLst>
          </a:prstGeom>
          <a:solidFill>
            <a:srgbClr val="028090"/>
          </a:solidFill>
          <a:ln/>
        </p:spPr>
      </p:sp>
      <p:sp>
        <p:nvSpPr>
          <p:cNvPr id="17" name="Text 15"/>
          <p:cNvSpPr/>
          <p:nvPr/>
        </p:nvSpPr>
        <p:spPr>
          <a:xfrm>
            <a:off x="9244584" y="3977640"/>
            <a:ext cx="2514600" cy="14173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Deliver Insights</a:t>
            </a:r>
            <a:endParaRPr lang="en-US" sz="1500" dirty="0"/>
          </a:p>
        </p:txBody>
      </p:sp>
      <p:sp>
        <p:nvSpPr>
          <p:cNvPr id="18" name="Text 16"/>
          <p:cNvSpPr/>
          <p:nvPr/>
        </p:nvSpPr>
        <p:spPr>
          <a:xfrm>
            <a:off x="457200" y="6537960"/>
            <a:ext cx="7315200" cy="274320"/>
          </a:xfrm>
          <a:prstGeom prst="rect">
            <a:avLst/>
          </a:prstGeom>
          <a:noFill/>
          <a:ln/>
        </p:spPr>
        <p:txBody>
          <a:bodyPr wrap="square" lIns="0" tIns="0" rIns="0" bIns="0" rtlCol="0" anchor="ctr"/>
          <a:lstStyle/>
          <a:p>
            <a:pPr algn="l" indent="0" marL="0">
              <a:buNone/>
            </a:pPr>
            <a:r>
              <a:rPr lang="en-US" sz="1000" dirty="0">
                <a:solidFill>
                  <a:srgbClr val="5B7278"/>
                </a:solidFill>
                <a:latin typeface="Calibri" pitchFamily="34" charset="0"/>
                <a:ea typeface="Calibri" pitchFamily="34" charset="-122"/>
                <a:cs typeface="Calibri" pitchFamily="34" charset="-120"/>
              </a:rPr>
              <a:t>Data Science Master Virtual Internship  •  Sanjana Kumari</a:t>
            </a:r>
            <a:endParaRPr lang="en-US" sz="1000" dirty="0"/>
          </a:p>
        </p:txBody>
      </p:sp>
      <p:sp>
        <p:nvSpPr>
          <p:cNvPr id="19" name="Text 17"/>
          <p:cNvSpPr/>
          <p:nvPr/>
        </p:nvSpPr>
        <p:spPr>
          <a:xfrm>
            <a:off x="11430000" y="6537960"/>
            <a:ext cx="457200" cy="274320"/>
          </a:xfrm>
          <a:prstGeom prst="rect">
            <a:avLst/>
          </a:prstGeom>
          <a:noFill/>
          <a:ln/>
        </p:spPr>
        <p:txBody>
          <a:bodyPr wrap="square" lIns="0" tIns="0" rIns="0" bIns="0" rtlCol="0" anchor="ctr"/>
          <a:lstStyle/>
          <a:p>
            <a:pPr algn="r" indent="0" marL="0">
              <a:buNone/>
            </a:pPr>
            <a:r>
              <a:rPr lang="en-US" sz="1000" dirty="0">
                <a:solidFill>
                  <a:srgbClr val="5B7278"/>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6F6"/>
        </a:solidFill>
      </p:bgPr>
    </p:bg>
    <p:spTree>
      <p:nvGrpSpPr>
        <p:cNvPr id="1" name=""/>
        <p:cNvGrpSpPr/>
        <p:nvPr/>
      </p:nvGrpSpPr>
      <p:grpSpPr>
        <a:xfrm>
          <a:off x="0" y="0"/>
          <a:ext cx="0" cy="0"/>
          <a:chOff x="0" y="0"/>
          <a:chExt cx="0" cy="0"/>
        </a:xfrm>
      </p:grpSpPr>
      <p:sp>
        <p:nvSpPr>
          <p:cNvPr id="2" name="Text 0"/>
          <p:cNvSpPr/>
          <p:nvPr/>
        </p:nvSpPr>
        <p:spPr>
          <a:xfrm>
            <a:off x="548640" y="502920"/>
            <a:ext cx="7315200" cy="320040"/>
          </a:xfrm>
          <a:prstGeom prst="rect">
            <a:avLst/>
          </a:prstGeom>
          <a:noFill/>
          <a:ln/>
        </p:spPr>
        <p:txBody>
          <a:bodyPr wrap="square" lIns="0" tIns="0" rIns="0" bIns="0" rtlCol="0" anchor="ctr"/>
          <a:lstStyle/>
          <a:p>
            <a:pPr algn="l" indent="0" marL="0">
              <a:buNone/>
            </a:pPr>
            <a:r>
              <a:rPr lang="en-US" sz="1200" b="1" spc="200" kern="0" dirty="0">
                <a:solidFill>
                  <a:srgbClr val="028090"/>
                </a:solidFill>
                <a:latin typeface="Calibri" pitchFamily="34" charset="0"/>
                <a:ea typeface="Calibri" pitchFamily="34" charset="-122"/>
                <a:cs typeface="Calibri" pitchFamily="34" charset="-120"/>
              </a:rPr>
              <a:t>PROJECT OBJECTIVES</a:t>
            </a:r>
            <a:endParaRPr lang="en-US" sz="1200" dirty="0"/>
          </a:p>
        </p:txBody>
      </p:sp>
      <p:sp>
        <p:nvSpPr>
          <p:cNvPr id="3" name="Text 1"/>
          <p:cNvSpPr/>
          <p:nvPr/>
        </p:nvSpPr>
        <p:spPr>
          <a:xfrm>
            <a:off x="548640" y="822960"/>
            <a:ext cx="10972800" cy="640080"/>
          </a:xfrm>
          <a:prstGeom prst="rect">
            <a:avLst/>
          </a:prstGeom>
          <a:noFill/>
          <a:ln/>
        </p:spPr>
        <p:txBody>
          <a:bodyPr wrap="square" lIns="0" tIns="0" rIns="0" bIns="0" rtlCol="0" anchor="ctr"/>
          <a:lstStyle/>
          <a:p>
            <a:pPr indent="0" marL="0">
              <a:buNone/>
            </a:pPr>
            <a:r>
              <a:rPr lang="en-US" sz="3200" b="1" dirty="0">
                <a:solidFill>
                  <a:srgbClr val="16262B"/>
                </a:solidFill>
                <a:latin typeface="Cambria" pitchFamily="34" charset="0"/>
                <a:ea typeface="Cambria" pitchFamily="34" charset="-122"/>
                <a:cs typeface="Cambria" pitchFamily="34" charset="-120"/>
              </a:rPr>
              <a:t>What the Internship Set Out to Achieve</a:t>
            </a:r>
            <a:endParaRPr lang="en-US" sz="3200" dirty="0"/>
          </a:p>
        </p:txBody>
      </p:sp>
      <p:sp>
        <p:nvSpPr>
          <p:cNvPr id="4" name="Shape 2"/>
          <p:cNvSpPr/>
          <p:nvPr/>
        </p:nvSpPr>
        <p:spPr>
          <a:xfrm>
            <a:off x="548640" y="1737360"/>
            <a:ext cx="3566160" cy="2148840"/>
          </a:xfrm>
          <a:prstGeom prst="roundRect">
            <a:avLst>
              <a:gd name="adj" fmla="val 3404"/>
            </a:avLst>
          </a:prstGeom>
          <a:solidFill>
            <a:srgbClr val="FFFFFF"/>
          </a:solidFill>
          <a:ln/>
          <a:effectLst>
            <a:outerShdw sx="100000" sy="100000" kx="0" ky="0" algn="bl" rotWithShape="0" blurRad="88900" dist="38100" dir="5400000">
              <a:srgbClr val="1F2A2E">
                <a:alpha val="10000"/>
              </a:srgbClr>
            </a:outerShdw>
          </a:effectLst>
        </p:spPr>
      </p:sp>
      <p:sp>
        <p:nvSpPr>
          <p:cNvPr id="5" name="Shape 3"/>
          <p:cNvSpPr/>
          <p:nvPr/>
        </p:nvSpPr>
        <p:spPr>
          <a:xfrm>
            <a:off x="822960" y="1993392"/>
            <a:ext cx="566928" cy="566928"/>
          </a:xfrm>
          <a:prstGeom prst="ellipse">
            <a:avLst/>
          </a:prstGeom>
          <a:solidFill>
            <a:srgbClr val="DCEEEC"/>
          </a:solidFill>
          <a:ln/>
        </p:spPr>
      </p:sp>
      <p:sp>
        <p:nvSpPr>
          <p:cNvPr id="6" name="Text 4"/>
          <p:cNvSpPr/>
          <p:nvPr/>
        </p:nvSpPr>
        <p:spPr>
          <a:xfrm>
            <a:off x="822960" y="1993392"/>
            <a:ext cx="566928" cy="566928"/>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7" name="Text 5"/>
          <p:cNvSpPr/>
          <p:nvPr/>
        </p:nvSpPr>
        <p:spPr>
          <a:xfrm>
            <a:off x="822960" y="2651760"/>
            <a:ext cx="3063240" cy="320040"/>
          </a:xfrm>
          <a:prstGeom prst="rect">
            <a:avLst/>
          </a:prstGeom>
          <a:noFill/>
          <a:ln/>
        </p:spPr>
        <p:txBody>
          <a:bodyPr wrap="square" lIns="0" tIns="0" rIns="0" bIns="0" rtlCol="0" anchor="ctr"/>
          <a:lstStyle/>
          <a:p>
            <a:pPr indent="0" marL="0">
              <a:buNone/>
            </a:pPr>
            <a:r>
              <a:rPr lang="en-US" sz="1450" b="1" dirty="0">
                <a:solidFill>
                  <a:srgbClr val="16262B"/>
                </a:solidFill>
                <a:latin typeface="Calibri" pitchFamily="34" charset="0"/>
                <a:ea typeface="Calibri" pitchFamily="34" charset="-122"/>
                <a:cs typeface="Calibri" pitchFamily="34" charset="-120"/>
              </a:rPr>
              <a:t>Data Wrangling</a:t>
            </a:r>
            <a:endParaRPr lang="en-US" sz="1450" dirty="0"/>
          </a:p>
        </p:txBody>
      </p:sp>
      <p:sp>
        <p:nvSpPr>
          <p:cNvPr id="8" name="Text 6"/>
          <p:cNvSpPr/>
          <p:nvPr/>
        </p:nvSpPr>
        <p:spPr>
          <a:xfrm>
            <a:off x="822960" y="2999232"/>
            <a:ext cx="3063240" cy="777240"/>
          </a:xfrm>
          <a:prstGeom prst="rect">
            <a:avLst/>
          </a:prstGeom>
          <a:noFill/>
          <a:ln/>
        </p:spPr>
        <p:txBody>
          <a:bodyPr wrap="square" lIns="0" tIns="0" rIns="0" bIns="0" rtlCol="0" anchor="t"/>
          <a:lstStyle/>
          <a:p>
            <a:pPr indent="0" marL="0">
              <a:buNone/>
            </a:pPr>
            <a:r>
              <a:rPr lang="en-US" sz="1100" dirty="0">
                <a:solidFill>
                  <a:srgbClr val="5B7278"/>
                </a:solidFill>
                <a:latin typeface="Calibri" pitchFamily="34" charset="0"/>
                <a:ea typeface="Calibri" pitchFamily="34" charset="-122"/>
                <a:cs typeface="Calibri" pitchFamily="34" charset="-120"/>
              </a:rPr>
              <a:t>Clean, transform and prepare messy real-world datasets for analysis.</a:t>
            </a:r>
            <a:endParaRPr lang="en-US" sz="1100" dirty="0"/>
          </a:p>
        </p:txBody>
      </p:sp>
      <p:sp>
        <p:nvSpPr>
          <p:cNvPr id="9" name="Shape 7"/>
          <p:cNvSpPr/>
          <p:nvPr/>
        </p:nvSpPr>
        <p:spPr>
          <a:xfrm>
            <a:off x="4343400" y="1737360"/>
            <a:ext cx="3566160" cy="2148840"/>
          </a:xfrm>
          <a:prstGeom prst="roundRect">
            <a:avLst>
              <a:gd name="adj" fmla="val 3404"/>
            </a:avLst>
          </a:prstGeom>
          <a:solidFill>
            <a:srgbClr val="FFFFFF"/>
          </a:solidFill>
          <a:ln/>
          <a:effectLst>
            <a:outerShdw sx="100000" sy="100000" kx="0" ky="0" algn="bl" rotWithShape="0" blurRad="88900" dist="38100" dir="5400000">
              <a:srgbClr val="1F2A2E">
                <a:alpha val="10000"/>
              </a:srgbClr>
            </a:outerShdw>
          </a:effectLst>
        </p:spPr>
      </p:sp>
      <p:sp>
        <p:nvSpPr>
          <p:cNvPr id="10" name="Shape 8"/>
          <p:cNvSpPr/>
          <p:nvPr/>
        </p:nvSpPr>
        <p:spPr>
          <a:xfrm>
            <a:off x="4617720" y="1993392"/>
            <a:ext cx="566928" cy="566928"/>
          </a:xfrm>
          <a:prstGeom prst="ellipse">
            <a:avLst/>
          </a:prstGeom>
          <a:solidFill>
            <a:srgbClr val="DCEEEC"/>
          </a:solidFill>
          <a:ln/>
        </p:spPr>
      </p:sp>
      <p:sp>
        <p:nvSpPr>
          <p:cNvPr id="11" name="Text 9"/>
          <p:cNvSpPr/>
          <p:nvPr/>
        </p:nvSpPr>
        <p:spPr>
          <a:xfrm>
            <a:off x="4617720" y="1993392"/>
            <a:ext cx="566928" cy="566928"/>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2" name="Text 10"/>
          <p:cNvSpPr/>
          <p:nvPr/>
        </p:nvSpPr>
        <p:spPr>
          <a:xfrm>
            <a:off x="4617720" y="2651760"/>
            <a:ext cx="3063240" cy="320040"/>
          </a:xfrm>
          <a:prstGeom prst="rect">
            <a:avLst/>
          </a:prstGeom>
          <a:noFill/>
          <a:ln/>
        </p:spPr>
        <p:txBody>
          <a:bodyPr wrap="square" lIns="0" tIns="0" rIns="0" bIns="0" rtlCol="0" anchor="ctr"/>
          <a:lstStyle/>
          <a:p>
            <a:pPr indent="0" marL="0">
              <a:buNone/>
            </a:pPr>
            <a:r>
              <a:rPr lang="en-US" sz="1450" b="1" dirty="0">
                <a:solidFill>
                  <a:srgbClr val="16262B"/>
                </a:solidFill>
                <a:latin typeface="Calibri" pitchFamily="34" charset="0"/>
                <a:ea typeface="Calibri" pitchFamily="34" charset="-122"/>
                <a:cs typeface="Calibri" pitchFamily="34" charset="-120"/>
              </a:rPr>
              <a:t>Exploratory Analysis</a:t>
            </a:r>
            <a:endParaRPr lang="en-US" sz="1450" dirty="0"/>
          </a:p>
        </p:txBody>
      </p:sp>
      <p:sp>
        <p:nvSpPr>
          <p:cNvPr id="13" name="Text 11"/>
          <p:cNvSpPr/>
          <p:nvPr/>
        </p:nvSpPr>
        <p:spPr>
          <a:xfrm>
            <a:off x="4617720" y="2999232"/>
            <a:ext cx="3063240" cy="777240"/>
          </a:xfrm>
          <a:prstGeom prst="rect">
            <a:avLst/>
          </a:prstGeom>
          <a:noFill/>
          <a:ln/>
        </p:spPr>
        <p:txBody>
          <a:bodyPr wrap="square" lIns="0" tIns="0" rIns="0" bIns="0" rtlCol="0" anchor="t"/>
          <a:lstStyle/>
          <a:p>
            <a:pPr indent="0" marL="0">
              <a:buNone/>
            </a:pPr>
            <a:r>
              <a:rPr lang="en-US" sz="1100" dirty="0">
                <a:solidFill>
                  <a:srgbClr val="5B7278"/>
                </a:solidFill>
                <a:latin typeface="Calibri" pitchFamily="34" charset="0"/>
                <a:ea typeface="Calibri" pitchFamily="34" charset="-122"/>
                <a:cs typeface="Calibri" pitchFamily="34" charset="-120"/>
              </a:rPr>
              <a:t>Uncover patterns and relationships through statistics and visualization.</a:t>
            </a:r>
            <a:endParaRPr lang="en-US" sz="1100" dirty="0"/>
          </a:p>
        </p:txBody>
      </p:sp>
      <p:sp>
        <p:nvSpPr>
          <p:cNvPr id="14" name="Shape 12"/>
          <p:cNvSpPr/>
          <p:nvPr/>
        </p:nvSpPr>
        <p:spPr>
          <a:xfrm>
            <a:off x="8138160" y="1737360"/>
            <a:ext cx="3566160" cy="2148840"/>
          </a:xfrm>
          <a:prstGeom prst="roundRect">
            <a:avLst>
              <a:gd name="adj" fmla="val 3404"/>
            </a:avLst>
          </a:prstGeom>
          <a:solidFill>
            <a:srgbClr val="FFFFFF"/>
          </a:solidFill>
          <a:ln/>
          <a:effectLst>
            <a:outerShdw sx="100000" sy="100000" kx="0" ky="0" algn="bl" rotWithShape="0" blurRad="88900" dist="38100" dir="5400000">
              <a:srgbClr val="1F2A2E">
                <a:alpha val="10000"/>
              </a:srgbClr>
            </a:outerShdw>
          </a:effectLst>
        </p:spPr>
      </p:sp>
      <p:sp>
        <p:nvSpPr>
          <p:cNvPr id="15" name="Shape 13"/>
          <p:cNvSpPr/>
          <p:nvPr/>
        </p:nvSpPr>
        <p:spPr>
          <a:xfrm>
            <a:off x="8412480" y="1993392"/>
            <a:ext cx="566928" cy="566928"/>
          </a:xfrm>
          <a:prstGeom prst="ellipse">
            <a:avLst/>
          </a:prstGeom>
          <a:solidFill>
            <a:srgbClr val="DCEEEC"/>
          </a:solidFill>
          <a:ln/>
        </p:spPr>
      </p:sp>
      <p:sp>
        <p:nvSpPr>
          <p:cNvPr id="16" name="Text 14"/>
          <p:cNvSpPr/>
          <p:nvPr/>
        </p:nvSpPr>
        <p:spPr>
          <a:xfrm>
            <a:off x="8412480" y="1993392"/>
            <a:ext cx="566928" cy="566928"/>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7" name="Text 15"/>
          <p:cNvSpPr/>
          <p:nvPr/>
        </p:nvSpPr>
        <p:spPr>
          <a:xfrm>
            <a:off x="8412480" y="2651760"/>
            <a:ext cx="3063240" cy="320040"/>
          </a:xfrm>
          <a:prstGeom prst="rect">
            <a:avLst/>
          </a:prstGeom>
          <a:noFill/>
          <a:ln/>
        </p:spPr>
        <p:txBody>
          <a:bodyPr wrap="square" lIns="0" tIns="0" rIns="0" bIns="0" rtlCol="0" anchor="ctr"/>
          <a:lstStyle/>
          <a:p>
            <a:pPr indent="0" marL="0">
              <a:buNone/>
            </a:pPr>
            <a:r>
              <a:rPr lang="en-US" sz="1450" b="1" dirty="0">
                <a:solidFill>
                  <a:srgbClr val="16262B"/>
                </a:solidFill>
                <a:latin typeface="Calibri" pitchFamily="34" charset="0"/>
                <a:ea typeface="Calibri" pitchFamily="34" charset="-122"/>
                <a:cs typeface="Calibri" pitchFamily="34" charset="-120"/>
              </a:rPr>
              <a:t>Predictive Modeling</a:t>
            </a:r>
            <a:endParaRPr lang="en-US" sz="1450" dirty="0"/>
          </a:p>
        </p:txBody>
      </p:sp>
      <p:sp>
        <p:nvSpPr>
          <p:cNvPr id="18" name="Text 16"/>
          <p:cNvSpPr/>
          <p:nvPr/>
        </p:nvSpPr>
        <p:spPr>
          <a:xfrm>
            <a:off x="8412480" y="2999232"/>
            <a:ext cx="3063240" cy="777240"/>
          </a:xfrm>
          <a:prstGeom prst="rect">
            <a:avLst/>
          </a:prstGeom>
          <a:noFill/>
          <a:ln/>
        </p:spPr>
        <p:txBody>
          <a:bodyPr wrap="square" lIns="0" tIns="0" rIns="0" bIns="0" rtlCol="0" anchor="t"/>
          <a:lstStyle/>
          <a:p>
            <a:pPr indent="0" marL="0">
              <a:buNone/>
            </a:pPr>
            <a:r>
              <a:rPr lang="en-US" sz="1100" dirty="0">
                <a:solidFill>
                  <a:srgbClr val="5B7278"/>
                </a:solidFill>
                <a:latin typeface="Calibri" pitchFamily="34" charset="0"/>
                <a:ea typeface="Calibri" pitchFamily="34" charset="-122"/>
                <a:cs typeface="Calibri" pitchFamily="34" charset="-120"/>
              </a:rPr>
              <a:t>Build regression &amp; classification models using Python and RapidMiner.</a:t>
            </a:r>
            <a:endParaRPr lang="en-US" sz="1100" dirty="0"/>
          </a:p>
        </p:txBody>
      </p:sp>
      <p:sp>
        <p:nvSpPr>
          <p:cNvPr id="19" name="Shape 17"/>
          <p:cNvSpPr/>
          <p:nvPr/>
        </p:nvSpPr>
        <p:spPr>
          <a:xfrm>
            <a:off x="548640" y="4069080"/>
            <a:ext cx="3566160" cy="2148840"/>
          </a:xfrm>
          <a:prstGeom prst="roundRect">
            <a:avLst>
              <a:gd name="adj" fmla="val 3404"/>
            </a:avLst>
          </a:prstGeom>
          <a:solidFill>
            <a:srgbClr val="FFFFFF"/>
          </a:solidFill>
          <a:ln/>
          <a:effectLst>
            <a:outerShdw sx="100000" sy="100000" kx="0" ky="0" algn="bl" rotWithShape="0" blurRad="88900" dist="38100" dir="5400000">
              <a:srgbClr val="1F2A2E">
                <a:alpha val="10000"/>
              </a:srgbClr>
            </a:outerShdw>
          </a:effectLst>
        </p:spPr>
      </p:sp>
      <p:sp>
        <p:nvSpPr>
          <p:cNvPr id="20" name="Shape 18"/>
          <p:cNvSpPr/>
          <p:nvPr/>
        </p:nvSpPr>
        <p:spPr>
          <a:xfrm>
            <a:off x="822960" y="4325112"/>
            <a:ext cx="566928" cy="566928"/>
          </a:xfrm>
          <a:prstGeom prst="ellipse">
            <a:avLst/>
          </a:prstGeom>
          <a:solidFill>
            <a:srgbClr val="DCEEEC"/>
          </a:solidFill>
          <a:ln/>
        </p:spPr>
      </p:sp>
      <p:sp>
        <p:nvSpPr>
          <p:cNvPr id="21" name="Text 19"/>
          <p:cNvSpPr/>
          <p:nvPr/>
        </p:nvSpPr>
        <p:spPr>
          <a:xfrm>
            <a:off x="822960" y="4325112"/>
            <a:ext cx="566928" cy="566928"/>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2" name="Text 20"/>
          <p:cNvSpPr/>
          <p:nvPr/>
        </p:nvSpPr>
        <p:spPr>
          <a:xfrm>
            <a:off x="822960" y="4983480"/>
            <a:ext cx="3063240" cy="320040"/>
          </a:xfrm>
          <a:prstGeom prst="rect">
            <a:avLst/>
          </a:prstGeom>
          <a:noFill/>
          <a:ln/>
        </p:spPr>
        <p:txBody>
          <a:bodyPr wrap="square" lIns="0" tIns="0" rIns="0" bIns="0" rtlCol="0" anchor="ctr"/>
          <a:lstStyle/>
          <a:p>
            <a:pPr indent="0" marL="0">
              <a:buNone/>
            </a:pPr>
            <a:r>
              <a:rPr lang="en-US" sz="1450" b="1" dirty="0">
                <a:solidFill>
                  <a:srgbClr val="16262B"/>
                </a:solidFill>
                <a:latin typeface="Calibri" pitchFamily="34" charset="0"/>
                <a:ea typeface="Calibri" pitchFamily="34" charset="-122"/>
                <a:cs typeface="Calibri" pitchFamily="34" charset="-120"/>
              </a:rPr>
              <a:t>Model Evaluation</a:t>
            </a:r>
            <a:endParaRPr lang="en-US" sz="1450" dirty="0"/>
          </a:p>
        </p:txBody>
      </p:sp>
      <p:sp>
        <p:nvSpPr>
          <p:cNvPr id="23" name="Text 21"/>
          <p:cNvSpPr/>
          <p:nvPr/>
        </p:nvSpPr>
        <p:spPr>
          <a:xfrm>
            <a:off x="822960" y="5330952"/>
            <a:ext cx="3063240" cy="777240"/>
          </a:xfrm>
          <a:prstGeom prst="rect">
            <a:avLst/>
          </a:prstGeom>
          <a:noFill/>
          <a:ln/>
        </p:spPr>
        <p:txBody>
          <a:bodyPr wrap="square" lIns="0" tIns="0" rIns="0" bIns="0" rtlCol="0" anchor="t"/>
          <a:lstStyle/>
          <a:p>
            <a:pPr indent="0" marL="0">
              <a:buNone/>
            </a:pPr>
            <a:r>
              <a:rPr lang="en-US" sz="1100" dirty="0">
                <a:solidFill>
                  <a:srgbClr val="5B7278"/>
                </a:solidFill>
                <a:latin typeface="Calibri" pitchFamily="34" charset="0"/>
                <a:ea typeface="Calibri" pitchFamily="34" charset="-122"/>
                <a:cs typeface="Calibri" pitchFamily="34" charset="-120"/>
              </a:rPr>
              <a:t>Validate, tune and compare models using standard performance metrics.</a:t>
            </a:r>
            <a:endParaRPr lang="en-US" sz="1100" dirty="0"/>
          </a:p>
        </p:txBody>
      </p:sp>
      <p:sp>
        <p:nvSpPr>
          <p:cNvPr id="24" name="Shape 22"/>
          <p:cNvSpPr/>
          <p:nvPr/>
        </p:nvSpPr>
        <p:spPr>
          <a:xfrm>
            <a:off x="4343400" y="4069080"/>
            <a:ext cx="3566160" cy="2148840"/>
          </a:xfrm>
          <a:prstGeom prst="roundRect">
            <a:avLst>
              <a:gd name="adj" fmla="val 3404"/>
            </a:avLst>
          </a:prstGeom>
          <a:solidFill>
            <a:srgbClr val="FFFFFF"/>
          </a:solidFill>
          <a:ln/>
          <a:effectLst>
            <a:outerShdw sx="100000" sy="100000" kx="0" ky="0" algn="bl" rotWithShape="0" blurRad="88900" dist="38100" dir="5400000">
              <a:srgbClr val="1F2A2E">
                <a:alpha val="10000"/>
              </a:srgbClr>
            </a:outerShdw>
          </a:effectLst>
        </p:spPr>
      </p:sp>
      <p:sp>
        <p:nvSpPr>
          <p:cNvPr id="25" name="Shape 23"/>
          <p:cNvSpPr/>
          <p:nvPr/>
        </p:nvSpPr>
        <p:spPr>
          <a:xfrm>
            <a:off x="4617720" y="4325112"/>
            <a:ext cx="566928" cy="566928"/>
          </a:xfrm>
          <a:prstGeom prst="ellipse">
            <a:avLst/>
          </a:prstGeom>
          <a:solidFill>
            <a:srgbClr val="DCEEEC"/>
          </a:solidFill>
          <a:ln/>
        </p:spPr>
      </p:sp>
      <p:sp>
        <p:nvSpPr>
          <p:cNvPr id="26" name="Text 24"/>
          <p:cNvSpPr/>
          <p:nvPr/>
        </p:nvSpPr>
        <p:spPr>
          <a:xfrm>
            <a:off x="4617720" y="4325112"/>
            <a:ext cx="566928" cy="566928"/>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7" name="Text 25"/>
          <p:cNvSpPr/>
          <p:nvPr/>
        </p:nvSpPr>
        <p:spPr>
          <a:xfrm>
            <a:off x="4617720" y="4983480"/>
            <a:ext cx="3063240" cy="320040"/>
          </a:xfrm>
          <a:prstGeom prst="rect">
            <a:avLst/>
          </a:prstGeom>
          <a:noFill/>
          <a:ln/>
        </p:spPr>
        <p:txBody>
          <a:bodyPr wrap="square" lIns="0" tIns="0" rIns="0" bIns="0" rtlCol="0" anchor="ctr"/>
          <a:lstStyle/>
          <a:p>
            <a:pPr indent="0" marL="0">
              <a:buNone/>
            </a:pPr>
            <a:r>
              <a:rPr lang="en-US" sz="1450" b="1" dirty="0">
                <a:solidFill>
                  <a:srgbClr val="16262B"/>
                </a:solidFill>
                <a:latin typeface="Calibri" pitchFamily="34" charset="0"/>
                <a:ea typeface="Calibri" pitchFamily="34" charset="-122"/>
                <a:cs typeface="Calibri" pitchFamily="34" charset="-120"/>
              </a:rPr>
              <a:t>Insight Storytelling</a:t>
            </a:r>
            <a:endParaRPr lang="en-US" sz="1450" dirty="0"/>
          </a:p>
        </p:txBody>
      </p:sp>
      <p:sp>
        <p:nvSpPr>
          <p:cNvPr id="28" name="Text 26"/>
          <p:cNvSpPr/>
          <p:nvPr/>
        </p:nvSpPr>
        <p:spPr>
          <a:xfrm>
            <a:off x="4617720" y="5330952"/>
            <a:ext cx="3063240" cy="777240"/>
          </a:xfrm>
          <a:prstGeom prst="rect">
            <a:avLst/>
          </a:prstGeom>
          <a:noFill/>
          <a:ln/>
        </p:spPr>
        <p:txBody>
          <a:bodyPr wrap="square" lIns="0" tIns="0" rIns="0" bIns="0" rtlCol="0" anchor="t"/>
          <a:lstStyle/>
          <a:p>
            <a:pPr indent="0" marL="0">
              <a:buNone/>
            </a:pPr>
            <a:r>
              <a:rPr lang="en-US" sz="1100" dirty="0">
                <a:solidFill>
                  <a:srgbClr val="5B7278"/>
                </a:solidFill>
                <a:latin typeface="Calibri" pitchFamily="34" charset="0"/>
                <a:ea typeface="Calibri" pitchFamily="34" charset="-122"/>
                <a:cs typeface="Calibri" pitchFamily="34" charset="-120"/>
              </a:rPr>
              <a:t>Communicate findings clearly through charts, dashboards and reports.</a:t>
            </a:r>
            <a:endParaRPr lang="en-US" sz="1100" dirty="0"/>
          </a:p>
        </p:txBody>
      </p:sp>
      <p:sp>
        <p:nvSpPr>
          <p:cNvPr id="29" name="Shape 27"/>
          <p:cNvSpPr/>
          <p:nvPr/>
        </p:nvSpPr>
        <p:spPr>
          <a:xfrm>
            <a:off x="8138160" y="4069080"/>
            <a:ext cx="3566160" cy="2148840"/>
          </a:xfrm>
          <a:prstGeom prst="roundRect">
            <a:avLst>
              <a:gd name="adj" fmla="val 3404"/>
            </a:avLst>
          </a:prstGeom>
          <a:solidFill>
            <a:srgbClr val="FFFFFF"/>
          </a:solidFill>
          <a:ln/>
          <a:effectLst>
            <a:outerShdw sx="100000" sy="100000" kx="0" ky="0" algn="bl" rotWithShape="0" blurRad="88900" dist="38100" dir="5400000">
              <a:srgbClr val="1F2A2E">
                <a:alpha val="10000"/>
              </a:srgbClr>
            </a:outerShdw>
          </a:effectLst>
        </p:spPr>
      </p:sp>
      <p:sp>
        <p:nvSpPr>
          <p:cNvPr id="30" name="Shape 28"/>
          <p:cNvSpPr/>
          <p:nvPr/>
        </p:nvSpPr>
        <p:spPr>
          <a:xfrm>
            <a:off x="8412480" y="4325112"/>
            <a:ext cx="566928" cy="566928"/>
          </a:xfrm>
          <a:prstGeom prst="ellipse">
            <a:avLst/>
          </a:prstGeom>
          <a:solidFill>
            <a:srgbClr val="DCEEEC"/>
          </a:solidFill>
          <a:ln/>
        </p:spPr>
      </p:sp>
      <p:sp>
        <p:nvSpPr>
          <p:cNvPr id="31" name="Text 29"/>
          <p:cNvSpPr/>
          <p:nvPr/>
        </p:nvSpPr>
        <p:spPr>
          <a:xfrm>
            <a:off x="8412480" y="4325112"/>
            <a:ext cx="566928" cy="566928"/>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32" name="Text 30"/>
          <p:cNvSpPr/>
          <p:nvPr/>
        </p:nvSpPr>
        <p:spPr>
          <a:xfrm>
            <a:off x="8412480" y="4983480"/>
            <a:ext cx="3063240" cy="320040"/>
          </a:xfrm>
          <a:prstGeom prst="rect">
            <a:avLst/>
          </a:prstGeom>
          <a:noFill/>
          <a:ln/>
        </p:spPr>
        <p:txBody>
          <a:bodyPr wrap="square" lIns="0" tIns="0" rIns="0" bIns="0" rtlCol="0" anchor="ctr"/>
          <a:lstStyle/>
          <a:p>
            <a:pPr indent="0" marL="0">
              <a:buNone/>
            </a:pPr>
            <a:r>
              <a:rPr lang="en-US" sz="1450" b="1" dirty="0">
                <a:solidFill>
                  <a:srgbClr val="16262B"/>
                </a:solidFill>
                <a:latin typeface="Calibri" pitchFamily="34" charset="0"/>
                <a:ea typeface="Calibri" pitchFamily="34" charset="-122"/>
                <a:cs typeface="Calibri" pitchFamily="34" charset="-120"/>
              </a:rPr>
              <a:t>Capstone Project</a:t>
            </a:r>
            <a:endParaRPr lang="en-US" sz="1450" dirty="0"/>
          </a:p>
        </p:txBody>
      </p:sp>
      <p:sp>
        <p:nvSpPr>
          <p:cNvPr id="33" name="Text 31"/>
          <p:cNvSpPr/>
          <p:nvPr/>
        </p:nvSpPr>
        <p:spPr>
          <a:xfrm>
            <a:off x="8412480" y="5330952"/>
            <a:ext cx="3063240" cy="777240"/>
          </a:xfrm>
          <a:prstGeom prst="rect">
            <a:avLst/>
          </a:prstGeom>
          <a:noFill/>
          <a:ln/>
        </p:spPr>
        <p:txBody>
          <a:bodyPr wrap="square" lIns="0" tIns="0" rIns="0" bIns="0" rtlCol="0" anchor="t"/>
          <a:lstStyle/>
          <a:p>
            <a:pPr indent="0" marL="0">
              <a:buNone/>
            </a:pPr>
            <a:r>
              <a:rPr lang="en-US" sz="1100" dirty="0">
                <a:solidFill>
                  <a:srgbClr val="5B7278"/>
                </a:solidFill>
                <a:latin typeface="Calibri" pitchFamily="34" charset="0"/>
                <a:ea typeface="Calibri" pitchFamily="34" charset="-122"/>
                <a:cs typeface="Calibri" pitchFamily="34" charset="-120"/>
              </a:rPr>
              <a:t>Deliver an end-to-end data science case study from raw data to insight.</a:t>
            </a:r>
            <a:endParaRPr lang="en-US" sz="1100" dirty="0"/>
          </a:p>
        </p:txBody>
      </p:sp>
      <p:sp>
        <p:nvSpPr>
          <p:cNvPr id="34" name="Text 32"/>
          <p:cNvSpPr/>
          <p:nvPr/>
        </p:nvSpPr>
        <p:spPr>
          <a:xfrm>
            <a:off x="457200" y="6537960"/>
            <a:ext cx="7315200" cy="274320"/>
          </a:xfrm>
          <a:prstGeom prst="rect">
            <a:avLst/>
          </a:prstGeom>
          <a:noFill/>
          <a:ln/>
        </p:spPr>
        <p:txBody>
          <a:bodyPr wrap="square" lIns="0" tIns="0" rIns="0" bIns="0" rtlCol="0" anchor="ctr"/>
          <a:lstStyle/>
          <a:p>
            <a:pPr algn="l" indent="0" marL="0">
              <a:buNone/>
            </a:pPr>
            <a:r>
              <a:rPr lang="en-US" sz="1000" dirty="0">
                <a:solidFill>
                  <a:srgbClr val="5B7278"/>
                </a:solidFill>
                <a:latin typeface="Calibri" pitchFamily="34" charset="0"/>
                <a:ea typeface="Calibri" pitchFamily="34" charset="-122"/>
                <a:cs typeface="Calibri" pitchFamily="34" charset="-120"/>
              </a:rPr>
              <a:t>Data Science Master Virtual Internship  •  Sanjana Kumari</a:t>
            </a:r>
            <a:endParaRPr lang="en-US" sz="1000" dirty="0"/>
          </a:p>
        </p:txBody>
      </p:sp>
      <p:sp>
        <p:nvSpPr>
          <p:cNvPr id="35" name="Text 33"/>
          <p:cNvSpPr/>
          <p:nvPr/>
        </p:nvSpPr>
        <p:spPr>
          <a:xfrm>
            <a:off x="11430000" y="6537960"/>
            <a:ext cx="457200" cy="274320"/>
          </a:xfrm>
          <a:prstGeom prst="rect">
            <a:avLst/>
          </a:prstGeom>
          <a:noFill/>
          <a:ln/>
        </p:spPr>
        <p:txBody>
          <a:bodyPr wrap="square" lIns="0" tIns="0" rIns="0" bIns="0" rtlCol="0" anchor="ctr"/>
          <a:lstStyle/>
          <a:p>
            <a:pPr algn="r" indent="0" marL="0">
              <a:buNone/>
            </a:pPr>
            <a:r>
              <a:rPr lang="en-US" sz="1000" dirty="0">
                <a:solidFill>
                  <a:srgbClr val="5B7278"/>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7315200" cy="320040"/>
          </a:xfrm>
          <a:prstGeom prst="rect">
            <a:avLst/>
          </a:prstGeom>
          <a:noFill/>
          <a:ln/>
        </p:spPr>
        <p:txBody>
          <a:bodyPr wrap="square" lIns="0" tIns="0" rIns="0" bIns="0" rtlCol="0" anchor="ctr"/>
          <a:lstStyle/>
          <a:p>
            <a:pPr algn="l" indent="0" marL="0">
              <a:buNone/>
            </a:pPr>
            <a:r>
              <a:rPr lang="en-US" sz="1200" b="1" spc="200" kern="0" dirty="0">
                <a:solidFill>
                  <a:srgbClr val="028090"/>
                </a:solidFill>
                <a:latin typeface="Calibri" pitchFamily="34" charset="0"/>
                <a:ea typeface="Calibri" pitchFamily="34" charset="-122"/>
                <a:cs typeface="Calibri" pitchFamily="34" charset="-120"/>
              </a:rPr>
              <a:t>TECHNOLOGIES &amp; TOOLS</a:t>
            </a:r>
            <a:endParaRPr lang="en-US" sz="1200" dirty="0"/>
          </a:p>
        </p:txBody>
      </p:sp>
      <p:sp>
        <p:nvSpPr>
          <p:cNvPr id="3" name="Text 1"/>
          <p:cNvSpPr/>
          <p:nvPr/>
        </p:nvSpPr>
        <p:spPr>
          <a:xfrm>
            <a:off x="548640" y="822960"/>
            <a:ext cx="10972800" cy="640080"/>
          </a:xfrm>
          <a:prstGeom prst="rect">
            <a:avLst/>
          </a:prstGeom>
          <a:noFill/>
          <a:ln/>
        </p:spPr>
        <p:txBody>
          <a:bodyPr wrap="square" lIns="0" tIns="0" rIns="0" bIns="0" rtlCol="0" anchor="ctr"/>
          <a:lstStyle/>
          <a:p>
            <a:pPr indent="0" marL="0">
              <a:buNone/>
            </a:pPr>
            <a:r>
              <a:rPr lang="en-US" sz="3200" b="1" dirty="0">
                <a:solidFill>
                  <a:srgbClr val="16262B"/>
                </a:solidFill>
                <a:latin typeface="Cambria" pitchFamily="34" charset="0"/>
                <a:ea typeface="Cambria" pitchFamily="34" charset="-122"/>
                <a:cs typeface="Cambria" pitchFamily="34" charset="-120"/>
              </a:rPr>
              <a:t>The Toolkit Behind the Internship</a:t>
            </a:r>
            <a:endParaRPr lang="en-US" sz="3200" dirty="0"/>
          </a:p>
        </p:txBody>
      </p:sp>
      <p:sp>
        <p:nvSpPr>
          <p:cNvPr id="4" name="Shape 2"/>
          <p:cNvSpPr/>
          <p:nvPr/>
        </p:nvSpPr>
        <p:spPr>
          <a:xfrm>
            <a:off x="548640" y="1737360"/>
            <a:ext cx="2606040" cy="2148840"/>
          </a:xfrm>
          <a:prstGeom prst="roundRect">
            <a:avLst>
              <a:gd name="adj" fmla="val 3404"/>
            </a:avLst>
          </a:prstGeom>
          <a:solidFill>
            <a:srgbClr val="F0F6F6"/>
          </a:solidFill>
          <a:ln/>
        </p:spPr>
      </p:sp>
      <p:sp>
        <p:nvSpPr>
          <p:cNvPr id="5" name="Shape 3"/>
          <p:cNvSpPr/>
          <p:nvPr/>
        </p:nvSpPr>
        <p:spPr>
          <a:xfrm>
            <a:off x="1554480" y="2011680"/>
            <a:ext cx="594360" cy="594360"/>
          </a:xfrm>
          <a:prstGeom prst="ellipse">
            <a:avLst/>
          </a:prstGeom>
          <a:solidFill>
            <a:srgbClr val="FFFFFF"/>
          </a:solidFill>
          <a:ln/>
        </p:spPr>
      </p:sp>
      <p:sp>
        <p:nvSpPr>
          <p:cNvPr id="6" name="Text 4"/>
          <p:cNvSpPr/>
          <p:nvPr/>
        </p:nvSpPr>
        <p:spPr>
          <a:xfrm>
            <a:off x="1554480" y="2011680"/>
            <a:ext cx="594360" cy="59436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7" name="Text 5"/>
          <p:cNvSpPr/>
          <p:nvPr/>
        </p:nvSpPr>
        <p:spPr>
          <a:xfrm>
            <a:off x="685800" y="2788920"/>
            <a:ext cx="2331720" cy="502920"/>
          </a:xfrm>
          <a:prstGeom prst="rect">
            <a:avLst/>
          </a:prstGeom>
          <a:noFill/>
          <a:ln/>
        </p:spPr>
        <p:txBody>
          <a:bodyPr wrap="square" lIns="0" tIns="0" rIns="0" bIns="0" rtlCol="0" anchor="ctr"/>
          <a:lstStyle/>
          <a:p>
            <a:pPr algn="ctr" indent="0" marL="0">
              <a:buNone/>
            </a:pPr>
            <a:r>
              <a:rPr lang="en-US" sz="1350" b="1" dirty="0">
                <a:solidFill>
                  <a:srgbClr val="16262B"/>
                </a:solidFill>
                <a:latin typeface="Calibri" pitchFamily="34" charset="0"/>
                <a:ea typeface="Calibri" pitchFamily="34" charset="-122"/>
                <a:cs typeface="Calibri" pitchFamily="34" charset="-120"/>
              </a:rPr>
              <a:t>Python</a:t>
            </a:r>
            <a:endParaRPr lang="en-US" sz="1350" dirty="0"/>
          </a:p>
        </p:txBody>
      </p:sp>
      <p:sp>
        <p:nvSpPr>
          <p:cNvPr id="8" name="Text 6"/>
          <p:cNvSpPr/>
          <p:nvPr/>
        </p:nvSpPr>
        <p:spPr>
          <a:xfrm>
            <a:off x="685800" y="3273552"/>
            <a:ext cx="2331720" cy="502920"/>
          </a:xfrm>
          <a:prstGeom prst="rect">
            <a:avLst/>
          </a:prstGeom>
          <a:noFill/>
          <a:ln/>
        </p:spPr>
        <p:txBody>
          <a:bodyPr wrap="square" lIns="0" tIns="0" rIns="0" bIns="0" rtlCol="0" anchor="ctr"/>
          <a:lstStyle/>
          <a:p>
            <a:pPr algn="ctr" indent="0" marL="0">
              <a:buNone/>
            </a:pPr>
            <a:r>
              <a:rPr lang="en-US" sz="1050" dirty="0">
                <a:solidFill>
                  <a:srgbClr val="5B7278"/>
                </a:solidFill>
                <a:latin typeface="Calibri" pitchFamily="34" charset="0"/>
                <a:ea typeface="Calibri" pitchFamily="34" charset="-122"/>
                <a:cs typeface="Calibri" pitchFamily="34" charset="-120"/>
              </a:rPr>
              <a:t>Core programming language</a:t>
            </a:r>
            <a:endParaRPr lang="en-US" sz="1050" dirty="0"/>
          </a:p>
        </p:txBody>
      </p:sp>
      <p:sp>
        <p:nvSpPr>
          <p:cNvPr id="9" name="Shape 7"/>
          <p:cNvSpPr/>
          <p:nvPr/>
        </p:nvSpPr>
        <p:spPr>
          <a:xfrm>
            <a:off x="3337560" y="1737360"/>
            <a:ext cx="2606040" cy="2148840"/>
          </a:xfrm>
          <a:prstGeom prst="roundRect">
            <a:avLst>
              <a:gd name="adj" fmla="val 3404"/>
            </a:avLst>
          </a:prstGeom>
          <a:solidFill>
            <a:srgbClr val="F0F6F6"/>
          </a:solidFill>
          <a:ln/>
        </p:spPr>
      </p:sp>
      <p:sp>
        <p:nvSpPr>
          <p:cNvPr id="10" name="Shape 8"/>
          <p:cNvSpPr/>
          <p:nvPr/>
        </p:nvSpPr>
        <p:spPr>
          <a:xfrm>
            <a:off x="4343400" y="2011680"/>
            <a:ext cx="594360" cy="594360"/>
          </a:xfrm>
          <a:prstGeom prst="ellipse">
            <a:avLst/>
          </a:prstGeom>
          <a:solidFill>
            <a:srgbClr val="FFFFFF"/>
          </a:solidFill>
          <a:ln/>
        </p:spPr>
      </p:sp>
      <p:sp>
        <p:nvSpPr>
          <p:cNvPr id="11" name="Text 9"/>
          <p:cNvSpPr/>
          <p:nvPr/>
        </p:nvSpPr>
        <p:spPr>
          <a:xfrm>
            <a:off x="4343400" y="2011680"/>
            <a:ext cx="594360" cy="59436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2" name="Text 10"/>
          <p:cNvSpPr/>
          <p:nvPr/>
        </p:nvSpPr>
        <p:spPr>
          <a:xfrm>
            <a:off x="3474720" y="2788920"/>
            <a:ext cx="2331720" cy="502920"/>
          </a:xfrm>
          <a:prstGeom prst="rect">
            <a:avLst/>
          </a:prstGeom>
          <a:noFill/>
          <a:ln/>
        </p:spPr>
        <p:txBody>
          <a:bodyPr wrap="square" lIns="0" tIns="0" rIns="0" bIns="0" rtlCol="0" anchor="ctr"/>
          <a:lstStyle/>
          <a:p>
            <a:pPr algn="ctr" indent="0" marL="0">
              <a:buNone/>
            </a:pPr>
            <a:r>
              <a:rPr lang="en-US" sz="1350" b="1" dirty="0">
                <a:solidFill>
                  <a:srgbClr val="16262B"/>
                </a:solidFill>
                <a:latin typeface="Calibri" pitchFamily="34" charset="0"/>
                <a:ea typeface="Calibri" pitchFamily="34" charset="-122"/>
                <a:cs typeface="Calibri" pitchFamily="34" charset="-120"/>
              </a:rPr>
              <a:t>Pandas &amp; NumPy</a:t>
            </a:r>
            <a:endParaRPr lang="en-US" sz="1350" dirty="0"/>
          </a:p>
        </p:txBody>
      </p:sp>
      <p:sp>
        <p:nvSpPr>
          <p:cNvPr id="13" name="Text 11"/>
          <p:cNvSpPr/>
          <p:nvPr/>
        </p:nvSpPr>
        <p:spPr>
          <a:xfrm>
            <a:off x="3474720" y="3273552"/>
            <a:ext cx="2331720" cy="502920"/>
          </a:xfrm>
          <a:prstGeom prst="rect">
            <a:avLst/>
          </a:prstGeom>
          <a:noFill/>
          <a:ln/>
        </p:spPr>
        <p:txBody>
          <a:bodyPr wrap="square" lIns="0" tIns="0" rIns="0" bIns="0" rtlCol="0" anchor="ctr"/>
          <a:lstStyle/>
          <a:p>
            <a:pPr algn="ctr" indent="0" marL="0">
              <a:buNone/>
            </a:pPr>
            <a:r>
              <a:rPr lang="en-US" sz="1050" dirty="0">
                <a:solidFill>
                  <a:srgbClr val="5B7278"/>
                </a:solidFill>
                <a:latin typeface="Calibri" pitchFamily="34" charset="0"/>
                <a:ea typeface="Calibri" pitchFamily="34" charset="-122"/>
                <a:cs typeface="Calibri" pitchFamily="34" charset="-120"/>
              </a:rPr>
              <a:t>Data wrangling &amp; analysis</a:t>
            </a:r>
            <a:endParaRPr lang="en-US" sz="1050" dirty="0"/>
          </a:p>
        </p:txBody>
      </p:sp>
      <p:sp>
        <p:nvSpPr>
          <p:cNvPr id="14" name="Shape 12"/>
          <p:cNvSpPr/>
          <p:nvPr/>
        </p:nvSpPr>
        <p:spPr>
          <a:xfrm>
            <a:off x="6126480" y="1737360"/>
            <a:ext cx="2606040" cy="2148840"/>
          </a:xfrm>
          <a:prstGeom prst="roundRect">
            <a:avLst>
              <a:gd name="adj" fmla="val 3404"/>
            </a:avLst>
          </a:prstGeom>
          <a:solidFill>
            <a:srgbClr val="F0F6F6"/>
          </a:solidFill>
          <a:ln/>
        </p:spPr>
      </p:sp>
      <p:sp>
        <p:nvSpPr>
          <p:cNvPr id="15" name="Shape 13"/>
          <p:cNvSpPr/>
          <p:nvPr/>
        </p:nvSpPr>
        <p:spPr>
          <a:xfrm>
            <a:off x="7132320" y="2011680"/>
            <a:ext cx="594360" cy="594360"/>
          </a:xfrm>
          <a:prstGeom prst="ellipse">
            <a:avLst/>
          </a:prstGeom>
          <a:solidFill>
            <a:srgbClr val="FFFFFF"/>
          </a:solidFill>
          <a:ln/>
        </p:spPr>
      </p:sp>
      <p:sp>
        <p:nvSpPr>
          <p:cNvPr id="16" name="Text 14"/>
          <p:cNvSpPr/>
          <p:nvPr/>
        </p:nvSpPr>
        <p:spPr>
          <a:xfrm>
            <a:off x="7132320" y="2011680"/>
            <a:ext cx="594360" cy="59436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7" name="Text 15"/>
          <p:cNvSpPr/>
          <p:nvPr/>
        </p:nvSpPr>
        <p:spPr>
          <a:xfrm>
            <a:off x="6263640" y="2788920"/>
            <a:ext cx="2331720" cy="502920"/>
          </a:xfrm>
          <a:prstGeom prst="rect">
            <a:avLst/>
          </a:prstGeom>
          <a:noFill/>
          <a:ln/>
        </p:spPr>
        <p:txBody>
          <a:bodyPr wrap="square" lIns="0" tIns="0" rIns="0" bIns="0" rtlCol="0" anchor="ctr"/>
          <a:lstStyle/>
          <a:p>
            <a:pPr algn="ctr" indent="0" marL="0">
              <a:buNone/>
            </a:pPr>
            <a:r>
              <a:rPr lang="en-US" sz="1350" b="1" dirty="0">
                <a:solidFill>
                  <a:srgbClr val="16262B"/>
                </a:solidFill>
                <a:latin typeface="Calibri" pitchFamily="34" charset="0"/>
                <a:ea typeface="Calibri" pitchFamily="34" charset="-122"/>
                <a:cs typeface="Calibri" pitchFamily="34" charset="-120"/>
              </a:rPr>
              <a:t>Matplotlib / Seaborn</a:t>
            </a:r>
            <a:endParaRPr lang="en-US" sz="1350" dirty="0"/>
          </a:p>
        </p:txBody>
      </p:sp>
      <p:sp>
        <p:nvSpPr>
          <p:cNvPr id="18" name="Text 16"/>
          <p:cNvSpPr/>
          <p:nvPr/>
        </p:nvSpPr>
        <p:spPr>
          <a:xfrm>
            <a:off x="6263640" y="3273552"/>
            <a:ext cx="2331720" cy="502920"/>
          </a:xfrm>
          <a:prstGeom prst="rect">
            <a:avLst/>
          </a:prstGeom>
          <a:noFill/>
          <a:ln/>
        </p:spPr>
        <p:txBody>
          <a:bodyPr wrap="square" lIns="0" tIns="0" rIns="0" bIns="0" rtlCol="0" anchor="ctr"/>
          <a:lstStyle/>
          <a:p>
            <a:pPr algn="ctr" indent="0" marL="0">
              <a:buNone/>
            </a:pPr>
            <a:r>
              <a:rPr lang="en-US" sz="1050" dirty="0">
                <a:solidFill>
                  <a:srgbClr val="5B7278"/>
                </a:solidFill>
                <a:latin typeface="Calibri" pitchFamily="34" charset="0"/>
                <a:ea typeface="Calibri" pitchFamily="34" charset="-122"/>
                <a:cs typeface="Calibri" pitchFamily="34" charset="-120"/>
              </a:rPr>
              <a:t>Data visualization</a:t>
            </a:r>
            <a:endParaRPr lang="en-US" sz="1050" dirty="0"/>
          </a:p>
        </p:txBody>
      </p:sp>
      <p:sp>
        <p:nvSpPr>
          <p:cNvPr id="19" name="Shape 17"/>
          <p:cNvSpPr/>
          <p:nvPr/>
        </p:nvSpPr>
        <p:spPr>
          <a:xfrm>
            <a:off x="8915400" y="1737360"/>
            <a:ext cx="2606040" cy="2148840"/>
          </a:xfrm>
          <a:prstGeom prst="roundRect">
            <a:avLst>
              <a:gd name="adj" fmla="val 3404"/>
            </a:avLst>
          </a:prstGeom>
          <a:solidFill>
            <a:srgbClr val="F0F6F6"/>
          </a:solidFill>
          <a:ln/>
        </p:spPr>
      </p:sp>
      <p:sp>
        <p:nvSpPr>
          <p:cNvPr id="20" name="Shape 18"/>
          <p:cNvSpPr/>
          <p:nvPr/>
        </p:nvSpPr>
        <p:spPr>
          <a:xfrm>
            <a:off x="9921240" y="2011680"/>
            <a:ext cx="594360" cy="594360"/>
          </a:xfrm>
          <a:prstGeom prst="ellipse">
            <a:avLst/>
          </a:prstGeom>
          <a:solidFill>
            <a:srgbClr val="FFFFFF"/>
          </a:solidFill>
          <a:ln/>
        </p:spPr>
      </p:sp>
      <p:sp>
        <p:nvSpPr>
          <p:cNvPr id="21" name="Text 19"/>
          <p:cNvSpPr/>
          <p:nvPr/>
        </p:nvSpPr>
        <p:spPr>
          <a:xfrm>
            <a:off x="9921240" y="2011680"/>
            <a:ext cx="594360" cy="59436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2" name="Text 20"/>
          <p:cNvSpPr/>
          <p:nvPr/>
        </p:nvSpPr>
        <p:spPr>
          <a:xfrm>
            <a:off x="9052560" y="2788920"/>
            <a:ext cx="2331720" cy="502920"/>
          </a:xfrm>
          <a:prstGeom prst="rect">
            <a:avLst/>
          </a:prstGeom>
          <a:noFill/>
          <a:ln/>
        </p:spPr>
        <p:txBody>
          <a:bodyPr wrap="square" lIns="0" tIns="0" rIns="0" bIns="0" rtlCol="0" anchor="ctr"/>
          <a:lstStyle/>
          <a:p>
            <a:pPr algn="ctr" indent="0" marL="0">
              <a:buNone/>
            </a:pPr>
            <a:r>
              <a:rPr lang="en-US" sz="1350" b="1" dirty="0">
                <a:solidFill>
                  <a:srgbClr val="16262B"/>
                </a:solidFill>
                <a:latin typeface="Calibri" pitchFamily="34" charset="0"/>
                <a:ea typeface="Calibri" pitchFamily="34" charset="-122"/>
                <a:cs typeface="Calibri" pitchFamily="34" charset="-120"/>
              </a:rPr>
              <a:t>RapidMiner Studio</a:t>
            </a:r>
            <a:endParaRPr lang="en-US" sz="1350" dirty="0"/>
          </a:p>
        </p:txBody>
      </p:sp>
      <p:sp>
        <p:nvSpPr>
          <p:cNvPr id="23" name="Text 21"/>
          <p:cNvSpPr/>
          <p:nvPr/>
        </p:nvSpPr>
        <p:spPr>
          <a:xfrm>
            <a:off x="9052560" y="3273552"/>
            <a:ext cx="2331720" cy="502920"/>
          </a:xfrm>
          <a:prstGeom prst="rect">
            <a:avLst/>
          </a:prstGeom>
          <a:noFill/>
          <a:ln/>
        </p:spPr>
        <p:txBody>
          <a:bodyPr wrap="square" lIns="0" tIns="0" rIns="0" bIns="0" rtlCol="0" anchor="ctr"/>
          <a:lstStyle/>
          <a:p>
            <a:pPr algn="ctr" indent="0" marL="0">
              <a:buNone/>
            </a:pPr>
            <a:r>
              <a:rPr lang="en-US" sz="1050" dirty="0">
                <a:solidFill>
                  <a:srgbClr val="5B7278"/>
                </a:solidFill>
                <a:latin typeface="Calibri" pitchFamily="34" charset="0"/>
                <a:ea typeface="Calibri" pitchFamily="34" charset="-122"/>
                <a:cs typeface="Calibri" pitchFamily="34" charset="-120"/>
              </a:rPr>
              <a:t>No-code ML workflows</a:t>
            </a:r>
            <a:endParaRPr lang="en-US" sz="1050" dirty="0"/>
          </a:p>
        </p:txBody>
      </p:sp>
      <p:sp>
        <p:nvSpPr>
          <p:cNvPr id="24" name="Shape 22"/>
          <p:cNvSpPr/>
          <p:nvPr/>
        </p:nvSpPr>
        <p:spPr>
          <a:xfrm>
            <a:off x="548640" y="4069080"/>
            <a:ext cx="2606040" cy="2148840"/>
          </a:xfrm>
          <a:prstGeom prst="roundRect">
            <a:avLst>
              <a:gd name="adj" fmla="val 3404"/>
            </a:avLst>
          </a:prstGeom>
          <a:solidFill>
            <a:srgbClr val="F0F6F6"/>
          </a:solidFill>
          <a:ln/>
        </p:spPr>
      </p:sp>
      <p:sp>
        <p:nvSpPr>
          <p:cNvPr id="25" name="Shape 23"/>
          <p:cNvSpPr/>
          <p:nvPr/>
        </p:nvSpPr>
        <p:spPr>
          <a:xfrm>
            <a:off x="1554480" y="4343400"/>
            <a:ext cx="594360" cy="594360"/>
          </a:xfrm>
          <a:prstGeom prst="ellipse">
            <a:avLst/>
          </a:prstGeom>
          <a:solidFill>
            <a:srgbClr val="FFFFFF"/>
          </a:solidFill>
          <a:ln/>
        </p:spPr>
      </p:sp>
      <p:sp>
        <p:nvSpPr>
          <p:cNvPr id="26" name="Text 24"/>
          <p:cNvSpPr/>
          <p:nvPr/>
        </p:nvSpPr>
        <p:spPr>
          <a:xfrm>
            <a:off x="1554480" y="4343400"/>
            <a:ext cx="594360" cy="59436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7" name="Text 25"/>
          <p:cNvSpPr/>
          <p:nvPr/>
        </p:nvSpPr>
        <p:spPr>
          <a:xfrm>
            <a:off x="685800" y="5120640"/>
            <a:ext cx="2331720" cy="502920"/>
          </a:xfrm>
          <a:prstGeom prst="rect">
            <a:avLst/>
          </a:prstGeom>
          <a:noFill/>
          <a:ln/>
        </p:spPr>
        <p:txBody>
          <a:bodyPr wrap="square" lIns="0" tIns="0" rIns="0" bIns="0" rtlCol="0" anchor="ctr"/>
          <a:lstStyle/>
          <a:p>
            <a:pPr algn="ctr" indent="0" marL="0">
              <a:buNone/>
            </a:pPr>
            <a:r>
              <a:rPr lang="en-US" sz="1350" b="1" dirty="0">
                <a:solidFill>
                  <a:srgbClr val="16262B"/>
                </a:solidFill>
                <a:latin typeface="Calibri" pitchFamily="34" charset="0"/>
                <a:ea typeface="Calibri" pitchFamily="34" charset="-122"/>
                <a:cs typeface="Calibri" pitchFamily="34" charset="-120"/>
              </a:rPr>
              <a:t>Statistics</a:t>
            </a:r>
            <a:endParaRPr lang="en-US" sz="1350" dirty="0"/>
          </a:p>
        </p:txBody>
      </p:sp>
      <p:sp>
        <p:nvSpPr>
          <p:cNvPr id="28" name="Text 26"/>
          <p:cNvSpPr/>
          <p:nvPr/>
        </p:nvSpPr>
        <p:spPr>
          <a:xfrm>
            <a:off x="685800" y="5605272"/>
            <a:ext cx="2331720" cy="502920"/>
          </a:xfrm>
          <a:prstGeom prst="rect">
            <a:avLst/>
          </a:prstGeom>
          <a:noFill/>
          <a:ln/>
        </p:spPr>
        <p:txBody>
          <a:bodyPr wrap="square" lIns="0" tIns="0" rIns="0" bIns="0" rtlCol="0" anchor="ctr"/>
          <a:lstStyle/>
          <a:p>
            <a:pPr algn="ctr" indent="0" marL="0">
              <a:buNone/>
            </a:pPr>
            <a:r>
              <a:rPr lang="en-US" sz="1050" dirty="0">
                <a:solidFill>
                  <a:srgbClr val="5B7278"/>
                </a:solidFill>
                <a:latin typeface="Calibri" pitchFamily="34" charset="0"/>
                <a:ea typeface="Calibri" pitchFamily="34" charset="-122"/>
                <a:cs typeface="Calibri" pitchFamily="34" charset="-120"/>
              </a:rPr>
              <a:t>Hypothesis testing &amp; inference</a:t>
            </a:r>
            <a:endParaRPr lang="en-US" sz="1050" dirty="0"/>
          </a:p>
        </p:txBody>
      </p:sp>
      <p:sp>
        <p:nvSpPr>
          <p:cNvPr id="29" name="Shape 27"/>
          <p:cNvSpPr/>
          <p:nvPr/>
        </p:nvSpPr>
        <p:spPr>
          <a:xfrm>
            <a:off x="3337560" y="4069080"/>
            <a:ext cx="2606040" cy="2148840"/>
          </a:xfrm>
          <a:prstGeom prst="roundRect">
            <a:avLst>
              <a:gd name="adj" fmla="val 3404"/>
            </a:avLst>
          </a:prstGeom>
          <a:solidFill>
            <a:srgbClr val="F0F6F6"/>
          </a:solidFill>
          <a:ln/>
        </p:spPr>
      </p:sp>
      <p:sp>
        <p:nvSpPr>
          <p:cNvPr id="30" name="Shape 28"/>
          <p:cNvSpPr/>
          <p:nvPr/>
        </p:nvSpPr>
        <p:spPr>
          <a:xfrm>
            <a:off x="4343400" y="4343400"/>
            <a:ext cx="594360" cy="594360"/>
          </a:xfrm>
          <a:prstGeom prst="ellipse">
            <a:avLst/>
          </a:prstGeom>
          <a:solidFill>
            <a:srgbClr val="FFFFFF"/>
          </a:solidFill>
          <a:ln/>
        </p:spPr>
      </p:sp>
      <p:sp>
        <p:nvSpPr>
          <p:cNvPr id="31" name="Text 29"/>
          <p:cNvSpPr/>
          <p:nvPr/>
        </p:nvSpPr>
        <p:spPr>
          <a:xfrm>
            <a:off x="4343400" y="4343400"/>
            <a:ext cx="594360" cy="59436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32" name="Text 30"/>
          <p:cNvSpPr/>
          <p:nvPr/>
        </p:nvSpPr>
        <p:spPr>
          <a:xfrm>
            <a:off x="3474720" y="5120640"/>
            <a:ext cx="2331720" cy="502920"/>
          </a:xfrm>
          <a:prstGeom prst="rect">
            <a:avLst/>
          </a:prstGeom>
          <a:noFill/>
          <a:ln/>
        </p:spPr>
        <p:txBody>
          <a:bodyPr wrap="square" lIns="0" tIns="0" rIns="0" bIns="0" rtlCol="0" anchor="ctr"/>
          <a:lstStyle/>
          <a:p>
            <a:pPr algn="ctr" indent="0" marL="0">
              <a:buNone/>
            </a:pPr>
            <a:r>
              <a:rPr lang="en-US" sz="1350" b="1" dirty="0">
                <a:solidFill>
                  <a:srgbClr val="16262B"/>
                </a:solidFill>
                <a:latin typeface="Calibri" pitchFamily="34" charset="0"/>
                <a:ea typeface="Calibri" pitchFamily="34" charset="-122"/>
                <a:cs typeface="Calibri" pitchFamily="34" charset="-120"/>
              </a:rPr>
              <a:t>Scikit-learn</a:t>
            </a:r>
            <a:endParaRPr lang="en-US" sz="1350" dirty="0"/>
          </a:p>
        </p:txBody>
      </p:sp>
      <p:sp>
        <p:nvSpPr>
          <p:cNvPr id="33" name="Text 31"/>
          <p:cNvSpPr/>
          <p:nvPr/>
        </p:nvSpPr>
        <p:spPr>
          <a:xfrm>
            <a:off x="3474720" y="5605272"/>
            <a:ext cx="2331720" cy="502920"/>
          </a:xfrm>
          <a:prstGeom prst="rect">
            <a:avLst/>
          </a:prstGeom>
          <a:noFill/>
          <a:ln/>
        </p:spPr>
        <p:txBody>
          <a:bodyPr wrap="square" lIns="0" tIns="0" rIns="0" bIns="0" rtlCol="0" anchor="ctr"/>
          <a:lstStyle/>
          <a:p>
            <a:pPr algn="ctr" indent="0" marL="0">
              <a:buNone/>
            </a:pPr>
            <a:r>
              <a:rPr lang="en-US" sz="1050" dirty="0">
                <a:solidFill>
                  <a:srgbClr val="5B7278"/>
                </a:solidFill>
                <a:latin typeface="Calibri" pitchFamily="34" charset="0"/>
                <a:ea typeface="Calibri" pitchFamily="34" charset="-122"/>
                <a:cs typeface="Calibri" pitchFamily="34" charset="-120"/>
              </a:rPr>
              <a:t>Regression &amp; classification</a:t>
            </a:r>
            <a:endParaRPr lang="en-US" sz="1050" dirty="0"/>
          </a:p>
        </p:txBody>
      </p:sp>
      <p:sp>
        <p:nvSpPr>
          <p:cNvPr id="34" name="Shape 32"/>
          <p:cNvSpPr/>
          <p:nvPr/>
        </p:nvSpPr>
        <p:spPr>
          <a:xfrm>
            <a:off x="6126480" y="4069080"/>
            <a:ext cx="2606040" cy="2148840"/>
          </a:xfrm>
          <a:prstGeom prst="roundRect">
            <a:avLst>
              <a:gd name="adj" fmla="val 3404"/>
            </a:avLst>
          </a:prstGeom>
          <a:solidFill>
            <a:srgbClr val="F0F6F6"/>
          </a:solidFill>
          <a:ln/>
        </p:spPr>
      </p:sp>
      <p:sp>
        <p:nvSpPr>
          <p:cNvPr id="35" name="Shape 33"/>
          <p:cNvSpPr/>
          <p:nvPr/>
        </p:nvSpPr>
        <p:spPr>
          <a:xfrm>
            <a:off x="7132320" y="4343400"/>
            <a:ext cx="594360" cy="594360"/>
          </a:xfrm>
          <a:prstGeom prst="ellipse">
            <a:avLst/>
          </a:prstGeom>
          <a:solidFill>
            <a:srgbClr val="FFFFFF"/>
          </a:solidFill>
          <a:ln/>
        </p:spPr>
      </p:sp>
      <p:sp>
        <p:nvSpPr>
          <p:cNvPr id="36" name="Text 34"/>
          <p:cNvSpPr/>
          <p:nvPr/>
        </p:nvSpPr>
        <p:spPr>
          <a:xfrm>
            <a:off x="7132320" y="4343400"/>
            <a:ext cx="594360" cy="59436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37" name="Text 35"/>
          <p:cNvSpPr/>
          <p:nvPr/>
        </p:nvSpPr>
        <p:spPr>
          <a:xfrm>
            <a:off x="6263640" y="5120640"/>
            <a:ext cx="2331720" cy="502920"/>
          </a:xfrm>
          <a:prstGeom prst="rect">
            <a:avLst/>
          </a:prstGeom>
          <a:noFill/>
          <a:ln/>
        </p:spPr>
        <p:txBody>
          <a:bodyPr wrap="square" lIns="0" tIns="0" rIns="0" bIns="0" rtlCol="0" anchor="ctr"/>
          <a:lstStyle/>
          <a:p>
            <a:pPr algn="ctr" indent="0" marL="0">
              <a:buNone/>
            </a:pPr>
            <a:r>
              <a:rPr lang="en-US" sz="1350" b="1" dirty="0">
                <a:solidFill>
                  <a:srgbClr val="16262B"/>
                </a:solidFill>
                <a:latin typeface="Calibri" pitchFamily="34" charset="0"/>
                <a:ea typeface="Calibri" pitchFamily="34" charset="-122"/>
                <a:cs typeface="Calibri" pitchFamily="34" charset="-120"/>
              </a:rPr>
              <a:t>Model Tuning</a:t>
            </a:r>
            <a:endParaRPr lang="en-US" sz="1350" dirty="0"/>
          </a:p>
        </p:txBody>
      </p:sp>
      <p:sp>
        <p:nvSpPr>
          <p:cNvPr id="38" name="Text 36"/>
          <p:cNvSpPr/>
          <p:nvPr/>
        </p:nvSpPr>
        <p:spPr>
          <a:xfrm>
            <a:off x="6263640" y="5605272"/>
            <a:ext cx="2331720" cy="502920"/>
          </a:xfrm>
          <a:prstGeom prst="rect">
            <a:avLst/>
          </a:prstGeom>
          <a:noFill/>
          <a:ln/>
        </p:spPr>
        <p:txBody>
          <a:bodyPr wrap="square" lIns="0" tIns="0" rIns="0" bIns="0" rtlCol="0" anchor="ctr"/>
          <a:lstStyle/>
          <a:p>
            <a:pPr algn="ctr" indent="0" marL="0">
              <a:buNone/>
            </a:pPr>
            <a:r>
              <a:rPr lang="en-US" sz="1050" dirty="0">
                <a:solidFill>
                  <a:srgbClr val="5B7278"/>
                </a:solidFill>
                <a:latin typeface="Calibri" pitchFamily="34" charset="0"/>
                <a:ea typeface="Calibri" pitchFamily="34" charset="-122"/>
                <a:cs typeface="Calibri" pitchFamily="34" charset="-120"/>
              </a:rPr>
              <a:t>Evaluation &amp; optimization</a:t>
            </a:r>
            <a:endParaRPr lang="en-US" sz="1050" dirty="0"/>
          </a:p>
        </p:txBody>
      </p:sp>
      <p:sp>
        <p:nvSpPr>
          <p:cNvPr id="39" name="Shape 37"/>
          <p:cNvSpPr/>
          <p:nvPr/>
        </p:nvSpPr>
        <p:spPr>
          <a:xfrm>
            <a:off x="8915400" y="4069080"/>
            <a:ext cx="2606040" cy="2148840"/>
          </a:xfrm>
          <a:prstGeom prst="roundRect">
            <a:avLst>
              <a:gd name="adj" fmla="val 3404"/>
            </a:avLst>
          </a:prstGeom>
          <a:solidFill>
            <a:srgbClr val="F0F6F6"/>
          </a:solidFill>
          <a:ln/>
        </p:spPr>
      </p:sp>
      <p:sp>
        <p:nvSpPr>
          <p:cNvPr id="40" name="Shape 38"/>
          <p:cNvSpPr/>
          <p:nvPr/>
        </p:nvSpPr>
        <p:spPr>
          <a:xfrm>
            <a:off x="9921240" y="4343400"/>
            <a:ext cx="594360" cy="594360"/>
          </a:xfrm>
          <a:prstGeom prst="ellipse">
            <a:avLst/>
          </a:prstGeom>
          <a:solidFill>
            <a:srgbClr val="FFFFFF"/>
          </a:solidFill>
          <a:ln/>
        </p:spPr>
      </p:sp>
      <p:sp>
        <p:nvSpPr>
          <p:cNvPr id="41" name="Text 39"/>
          <p:cNvSpPr/>
          <p:nvPr/>
        </p:nvSpPr>
        <p:spPr>
          <a:xfrm>
            <a:off x="9921240" y="4343400"/>
            <a:ext cx="594360" cy="594360"/>
          </a:xfrm>
          <a:prstGeom prst="rect">
            <a:avLst/>
          </a:prstGeom>
          <a:no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42" name="Text 40"/>
          <p:cNvSpPr/>
          <p:nvPr/>
        </p:nvSpPr>
        <p:spPr>
          <a:xfrm>
            <a:off x="9052560" y="5120640"/>
            <a:ext cx="2331720" cy="502920"/>
          </a:xfrm>
          <a:prstGeom prst="rect">
            <a:avLst/>
          </a:prstGeom>
          <a:noFill/>
          <a:ln/>
        </p:spPr>
        <p:txBody>
          <a:bodyPr wrap="square" lIns="0" tIns="0" rIns="0" bIns="0" rtlCol="0" anchor="ctr"/>
          <a:lstStyle/>
          <a:p>
            <a:pPr algn="ctr" indent="0" marL="0">
              <a:buNone/>
            </a:pPr>
            <a:r>
              <a:rPr lang="en-US" sz="1350" b="1" dirty="0">
                <a:solidFill>
                  <a:srgbClr val="16262B"/>
                </a:solidFill>
                <a:latin typeface="Calibri" pitchFamily="34" charset="0"/>
                <a:ea typeface="Calibri" pitchFamily="34" charset="-122"/>
                <a:cs typeface="Calibri" pitchFamily="34" charset="-120"/>
              </a:rPr>
              <a:t>Capstone Project</a:t>
            </a:r>
            <a:endParaRPr lang="en-US" sz="1350" dirty="0"/>
          </a:p>
        </p:txBody>
      </p:sp>
      <p:sp>
        <p:nvSpPr>
          <p:cNvPr id="43" name="Text 41"/>
          <p:cNvSpPr/>
          <p:nvPr/>
        </p:nvSpPr>
        <p:spPr>
          <a:xfrm>
            <a:off x="9052560" y="5605272"/>
            <a:ext cx="2331720" cy="502920"/>
          </a:xfrm>
          <a:prstGeom prst="rect">
            <a:avLst/>
          </a:prstGeom>
          <a:noFill/>
          <a:ln/>
        </p:spPr>
        <p:txBody>
          <a:bodyPr wrap="square" lIns="0" tIns="0" rIns="0" bIns="0" rtlCol="0" anchor="ctr"/>
          <a:lstStyle/>
          <a:p>
            <a:pPr algn="ctr" indent="0" marL="0">
              <a:buNone/>
            </a:pPr>
            <a:r>
              <a:rPr lang="en-US" sz="1050" dirty="0">
                <a:solidFill>
                  <a:srgbClr val="5B7278"/>
                </a:solidFill>
                <a:latin typeface="Calibri" pitchFamily="34" charset="0"/>
                <a:ea typeface="Calibri" pitchFamily="34" charset="-122"/>
                <a:cs typeface="Calibri" pitchFamily="34" charset="-120"/>
              </a:rPr>
              <a:t>End-to-end case study</a:t>
            </a:r>
            <a:endParaRPr lang="en-US" sz="1050" dirty="0"/>
          </a:p>
        </p:txBody>
      </p:sp>
      <p:sp>
        <p:nvSpPr>
          <p:cNvPr id="44" name="Text 42"/>
          <p:cNvSpPr/>
          <p:nvPr/>
        </p:nvSpPr>
        <p:spPr>
          <a:xfrm>
            <a:off x="457200" y="6537960"/>
            <a:ext cx="7315200" cy="274320"/>
          </a:xfrm>
          <a:prstGeom prst="rect">
            <a:avLst/>
          </a:prstGeom>
          <a:noFill/>
          <a:ln/>
        </p:spPr>
        <p:txBody>
          <a:bodyPr wrap="square" lIns="0" tIns="0" rIns="0" bIns="0" rtlCol="0" anchor="ctr"/>
          <a:lstStyle/>
          <a:p>
            <a:pPr algn="l" indent="0" marL="0">
              <a:buNone/>
            </a:pPr>
            <a:r>
              <a:rPr lang="en-US" sz="1000" dirty="0">
                <a:solidFill>
                  <a:srgbClr val="5B7278"/>
                </a:solidFill>
                <a:latin typeface="Calibri" pitchFamily="34" charset="0"/>
                <a:ea typeface="Calibri" pitchFamily="34" charset="-122"/>
                <a:cs typeface="Calibri" pitchFamily="34" charset="-120"/>
              </a:rPr>
              <a:t>Data Science Master Virtual Internship  •  Sanjana Kumari</a:t>
            </a:r>
            <a:endParaRPr lang="en-US" sz="1000" dirty="0"/>
          </a:p>
        </p:txBody>
      </p:sp>
      <p:sp>
        <p:nvSpPr>
          <p:cNvPr id="45" name="Text 43"/>
          <p:cNvSpPr/>
          <p:nvPr/>
        </p:nvSpPr>
        <p:spPr>
          <a:xfrm>
            <a:off x="11430000" y="6537960"/>
            <a:ext cx="457200" cy="274320"/>
          </a:xfrm>
          <a:prstGeom prst="rect">
            <a:avLst/>
          </a:prstGeom>
          <a:noFill/>
          <a:ln/>
        </p:spPr>
        <p:txBody>
          <a:bodyPr wrap="square" lIns="0" tIns="0" rIns="0" bIns="0" rtlCol="0" anchor="ctr"/>
          <a:lstStyle/>
          <a:p>
            <a:pPr algn="r" indent="0" marL="0">
              <a:buNone/>
            </a:pPr>
            <a:r>
              <a:rPr lang="en-US" sz="1000" dirty="0">
                <a:solidFill>
                  <a:srgbClr val="5B7278"/>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7323D"/>
        </a:solidFill>
      </p:bgPr>
    </p:bg>
    <p:spTree>
      <p:nvGrpSpPr>
        <p:cNvPr id="1" name=""/>
        <p:cNvGrpSpPr/>
        <p:nvPr/>
      </p:nvGrpSpPr>
      <p:grpSpPr>
        <a:xfrm>
          <a:off x="0" y="0"/>
          <a:ext cx="0" cy="0"/>
          <a:chOff x="0" y="0"/>
          <a:chExt cx="0" cy="0"/>
        </a:xfrm>
      </p:grpSpPr>
      <p:sp>
        <p:nvSpPr>
          <p:cNvPr id="2" name="Text 0"/>
          <p:cNvSpPr/>
          <p:nvPr/>
        </p:nvSpPr>
        <p:spPr>
          <a:xfrm>
            <a:off x="548640" y="502920"/>
            <a:ext cx="7315200" cy="320040"/>
          </a:xfrm>
          <a:prstGeom prst="rect">
            <a:avLst/>
          </a:prstGeom>
          <a:noFill/>
          <a:ln/>
        </p:spPr>
        <p:txBody>
          <a:bodyPr wrap="square" lIns="0" tIns="0" rIns="0" bIns="0" rtlCol="0" anchor="ctr"/>
          <a:lstStyle/>
          <a:p>
            <a:pPr algn="l" indent="0" marL="0">
              <a:buNone/>
            </a:pPr>
            <a:r>
              <a:rPr lang="en-US" sz="1200" b="1" spc="200" kern="0" dirty="0">
                <a:solidFill>
                  <a:srgbClr val="F2B441"/>
                </a:solidFill>
                <a:latin typeface="Calibri" pitchFamily="34" charset="0"/>
                <a:ea typeface="Calibri" pitchFamily="34" charset="-122"/>
                <a:cs typeface="Calibri" pitchFamily="34" charset="-120"/>
              </a:rPr>
              <a:t>DATA SCIENCE PIPELINE</a:t>
            </a:r>
            <a:endParaRPr lang="en-US" sz="1200" dirty="0"/>
          </a:p>
        </p:txBody>
      </p:sp>
      <p:sp>
        <p:nvSpPr>
          <p:cNvPr id="3" name="Text 1"/>
          <p:cNvSpPr/>
          <p:nvPr/>
        </p:nvSpPr>
        <p:spPr>
          <a:xfrm>
            <a:off x="548640" y="822960"/>
            <a:ext cx="1097280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From Raw Data to Actionable Insight</a:t>
            </a:r>
            <a:endParaRPr lang="en-US" sz="3200" dirty="0"/>
          </a:p>
        </p:txBody>
      </p:sp>
      <p:sp>
        <p:nvSpPr>
          <p:cNvPr id="4" name="Shape 2"/>
          <p:cNvSpPr/>
          <p:nvPr/>
        </p:nvSpPr>
        <p:spPr>
          <a:xfrm>
            <a:off x="548640" y="1691640"/>
            <a:ext cx="11064240" cy="603504"/>
          </a:xfrm>
          <a:prstGeom prst="roundRect">
            <a:avLst>
              <a:gd name="adj" fmla="val 7576"/>
            </a:avLst>
          </a:prstGeom>
          <a:solidFill>
            <a:srgbClr val="1F4650"/>
          </a:solidFill>
          <a:ln/>
        </p:spPr>
      </p:sp>
      <p:sp>
        <p:nvSpPr>
          <p:cNvPr id="5" name="Shape 3"/>
          <p:cNvSpPr/>
          <p:nvPr/>
        </p:nvSpPr>
        <p:spPr>
          <a:xfrm>
            <a:off x="777240" y="1764792"/>
            <a:ext cx="457200" cy="457200"/>
          </a:xfrm>
          <a:prstGeom prst="ellipse">
            <a:avLst/>
          </a:prstGeom>
          <a:solidFill>
            <a:srgbClr val="FFFFFF"/>
          </a:solidFill>
          <a:ln/>
        </p:spPr>
      </p:sp>
      <p:sp>
        <p:nvSpPr>
          <p:cNvPr id="6" name="Text 4"/>
          <p:cNvSpPr/>
          <p:nvPr/>
        </p:nvSpPr>
        <p:spPr>
          <a:xfrm>
            <a:off x="777240" y="1764792"/>
            <a:ext cx="457200" cy="457200"/>
          </a:xfrm>
          <a:prstGeom prst="rect">
            <a:avLst/>
          </a:prstGeom>
          <a:noFill/>
          <a:ln/>
        </p:spPr>
        <p:txBody>
          <a:bodyPr wrap="square" lIns="0" tIns="0" rIns="0" bIns="0" rtlCol="0" anchor="ctr"/>
          <a:lstStyle/>
          <a:p>
            <a:pPr algn="ctr" indent="0" marL="0">
              <a:buNone/>
            </a:pPr>
            <a:r>
              <a:rPr lang="en-US" sz="1500" dirty="0">
                <a:solidFill>
                  <a:srgbClr val="000000"/>
                </a:solidFill>
              </a:rPr>
              <a:t>🗄️</a:t>
            </a:r>
            <a:endParaRPr lang="en-US" sz="1500" dirty="0"/>
          </a:p>
        </p:txBody>
      </p:sp>
      <p:sp>
        <p:nvSpPr>
          <p:cNvPr id="7" name="Text 5"/>
          <p:cNvSpPr/>
          <p:nvPr/>
        </p:nvSpPr>
        <p:spPr>
          <a:xfrm>
            <a:off x="1417320" y="1691640"/>
            <a:ext cx="3383280" cy="60350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Data Collection Layer</a:t>
            </a:r>
            <a:endParaRPr lang="en-US" sz="1400" dirty="0"/>
          </a:p>
        </p:txBody>
      </p:sp>
      <p:sp>
        <p:nvSpPr>
          <p:cNvPr id="8" name="Text 6"/>
          <p:cNvSpPr/>
          <p:nvPr/>
        </p:nvSpPr>
        <p:spPr>
          <a:xfrm>
            <a:off x="4937760" y="1691640"/>
            <a:ext cx="6446520" cy="603504"/>
          </a:xfrm>
          <a:prstGeom prst="rect">
            <a:avLst/>
          </a:prstGeom>
          <a:noFill/>
          <a:ln/>
        </p:spPr>
        <p:txBody>
          <a:bodyPr wrap="square" lIns="0" tIns="0" rIns="0" bIns="0" rtlCol="0" anchor="ctr"/>
          <a:lstStyle/>
          <a:p>
            <a:pPr indent="0" marL="0">
              <a:buNone/>
            </a:pPr>
            <a:r>
              <a:rPr lang="en-US" sz="1250" dirty="0">
                <a:solidFill>
                  <a:srgbClr val="C9DDE0"/>
                </a:solidFill>
                <a:latin typeface="Calibri" pitchFamily="34" charset="0"/>
                <a:ea typeface="Calibri" pitchFamily="34" charset="-122"/>
                <a:cs typeface="Calibri" pitchFamily="34" charset="-120"/>
              </a:rPr>
              <a:t>Raw structured &amp; unstructured datasets gathered</a:t>
            </a:r>
            <a:endParaRPr lang="en-US" sz="1250" dirty="0"/>
          </a:p>
        </p:txBody>
      </p:sp>
      <p:sp>
        <p:nvSpPr>
          <p:cNvPr id="9" name="Text 7"/>
          <p:cNvSpPr/>
          <p:nvPr/>
        </p:nvSpPr>
        <p:spPr>
          <a:xfrm>
            <a:off x="685800" y="2276856"/>
            <a:ext cx="274320" cy="146304"/>
          </a:xfrm>
          <a:prstGeom prst="rect">
            <a:avLst/>
          </a:prstGeom>
          <a:noFill/>
          <a:ln/>
        </p:spPr>
        <p:txBody>
          <a:bodyPr wrap="square" lIns="0" tIns="0" rIns="0" bIns="0" rtlCol="0" anchor="ctr"/>
          <a:lstStyle/>
          <a:p>
            <a:pPr algn="ctr" indent="0" marL="0">
              <a:buNone/>
            </a:pPr>
            <a:r>
              <a:rPr lang="en-US" sz="1000" dirty="0">
                <a:solidFill>
                  <a:srgbClr val="F2B441"/>
                </a:solidFill>
              </a:rPr>
              <a:t>↓</a:t>
            </a:r>
            <a:endParaRPr lang="en-US" sz="1000" dirty="0"/>
          </a:p>
        </p:txBody>
      </p:sp>
      <p:sp>
        <p:nvSpPr>
          <p:cNvPr id="10" name="Shape 8"/>
          <p:cNvSpPr/>
          <p:nvPr/>
        </p:nvSpPr>
        <p:spPr>
          <a:xfrm>
            <a:off x="548640" y="2404872"/>
            <a:ext cx="11064240" cy="603504"/>
          </a:xfrm>
          <a:prstGeom prst="roundRect">
            <a:avLst>
              <a:gd name="adj" fmla="val 7576"/>
            </a:avLst>
          </a:prstGeom>
          <a:solidFill>
            <a:srgbClr val="23545E"/>
          </a:solidFill>
          <a:ln/>
        </p:spPr>
      </p:sp>
      <p:sp>
        <p:nvSpPr>
          <p:cNvPr id="11" name="Shape 9"/>
          <p:cNvSpPr/>
          <p:nvPr/>
        </p:nvSpPr>
        <p:spPr>
          <a:xfrm>
            <a:off x="777240" y="2478024"/>
            <a:ext cx="457200" cy="457200"/>
          </a:xfrm>
          <a:prstGeom prst="ellipse">
            <a:avLst/>
          </a:prstGeom>
          <a:solidFill>
            <a:srgbClr val="FFFFFF"/>
          </a:solidFill>
          <a:ln/>
        </p:spPr>
      </p:sp>
      <p:sp>
        <p:nvSpPr>
          <p:cNvPr id="12" name="Text 10"/>
          <p:cNvSpPr/>
          <p:nvPr/>
        </p:nvSpPr>
        <p:spPr>
          <a:xfrm>
            <a:off x="777240" y="2478024"/>
            <a:ext cx="457200" cy="457200"/>
          </a:xfrm>
          <a:prstGeom prst="rect">
            <a:avLst/>
          </a:prstGeom>
          <a:noFill/>
          <a:ln/>
        </p:spPr>
        <p:txBody>
          <a:bodyPr wrap="square" lIns="0" tIns="0" rIns="0" bIns="0" rtlCol="0" anchor="ctr"/>
          <a:lstStyle/>
          <a:p>
            <a:pPr algn="ctr" indent="0" marL="0">
              <a:buNone/>
            </a:pPr>
            <a:r>
              <a:rPr lang="en-US" sz="1500" dirty="0">
                <a:solidFill>
                  <a:srgbClr val="000000"/>
                </a:solidFill>
              </a:rPr>
              <a:t>🧹</a:t>
            </a:r>
            <a:endParaRPr lang="en-US" sz="1500" dirty="0"/>
          </a:p>
        </p:txBody>
      </p:sp>
      <p:sp>
        <p:nvSpPr>
          <p:cNvPr id="13" name="Text 11"/>
          <p:cNvSpPr/>
          <p:nvPr/>
        </p:nvSpPr>
        <p:spPr>
          <a:xfrm>
            <a:off x="1417320" y="2404872"/>
            <a:ext cx="3383280" cy="60350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Cleaning &amp; Preprocessing</a:t>
            </a:r>
            <a:endParaRPr lang="en-US" sz="1400" dirty="0"/>
          </a:p>
        </p:txBody>
      </p:sp>
      <p:sp>
        <p:nvSpPr>
          <p:cNvPr id="14" name="Text 12"/>
          <p:cNvSpPr/>
          <p:nvPr/>
        </p:nvSpPr>
        <p:spPr>
          <a:xfrm>
            <a:off x="4937760" y="2404872"/>
            <a:ext cx="6446520" cy="603504"/>
          </a:xfrm>
          <a:prstGeom prst="rect">
            <a:avLst/>
          </a:prstGeom>
          <a:noFill/>
          <a:ln/>
        </p:spPr>
        <p:txBody>
          <a:bodyPr wrap="square" lIns="0" tIns="0" rIns="0" bIns="0" rtlCol="0" anchor="ctr"/>
          <a:lstStyle/>
          <a:p>
            <a:pPr indent="0" marL="0">
              <a:buNone/>
            </a:pPr>
            <a:r>
              <a:rPr lang="en-US" sz="1250" dirty="0">
                <a:solidFill>
                  <a:srgbClr val="C9DDE0"/>
                </a:solidFill>
                <a:latin typeface="Calibri" pitchFamily="34" charset="0"/>
                <a:ea typeface="Calibri" pitchFamily="34" charset="-122"/>
                <a:cs typeface="Calibri" pitchFamily="34" charset="-120"/>
              </a:rPr>
              <a:t>Missing values, outliers and formatting handled</a:t>
            </a:r>
            <a:endParaRPr lang="en-US" sz="1250" dirty="0"/>
          </a:p>
        </p:txBody>
      </p:sp>
      <p:sp>
        <p:nvSpPr>
          <p:cNvPr id="15" name="Text 13"/>
          <p:cNvSpPr/>
          <p:nvPr/>
        </p:nvSpPr>
        <p:spPr>
          <a:xfrm>
            <a:off x="685800" y="2990088"/>
            <a:ext cx="274320" cy="146304"/>
          </a:xfrm>
          <a:prstGeom prst="rect">
            <a:avLst/>
          </a:prstGeom>
          <a:noFill/>
          <a:ln/>
        </p:spPr>
        <p:txBody>
          <a:bodyPr wrap="square" lIns="0" tIns="0" rIns="0" bIns="0" rtlCol="0" anchor="ctr"/>
          <a:lstStyle/>
          <a:p>
            <a:pPr algn="ctr" indent="0" marL="0">
              <a:buNone/>
            </a:pPr>
            <a:r>
              <a:rPr lang="en-US" sz="1000" dirty="0">
                <a:solidFill>
                  <a:srgbClr val="F2B441"/>
                </a:solidFill>
              </a:rPr>
              <a:t>↓</a:t>
            </a:r>
            <a:endParaRPr lang="en-US" sz="1000" dirty="0"/>
          </a:p>
        </p:txBody>
      </p:sp>
      <p:sp>
        <p:nvSpPr>
          <p:cNvPr id="16" name="Shape 14"/>
          <p:cNvSpPr/>
          <p:nvPr/>
        </p:nvSpPr>
        <p:spPr>
          <a:xfrm>
            <a:off x="548640" y="3118104"/>
            <a:ext cx="11064240" cy="603504"/>
          </a:xfrm>
          <a:prstGeom prst="roundRect">
            <a:avLst>
              <a:gd name="adj" fmla="val 7576"/>
            </a:avLst>
          </a:prstGeom>
          <a:solidFill>
            <a:srgbClr val="1F4650"/>
          </a:solidFill>
          <a:ln/>
        </p:spPr>
      </p:sp>
      <p:sp>
        <p:nvSpPr>
          <p:cNvPr id="17" name="Shape 15"/>
          <p:cNvSpPr/>
          <p:nvPr/>
        </p:nvSpPr>
        <p:spPr>
          <a:xfrm>
            <a:off x="777240" y="3191256"/>
            <a:ext cx="457200" cy="457200"/>
          </a:xfrm>
          <a:prstGeom prst="ellipse">
            <a:avLst/>
          </a:prstGeom>
          <a:solidFill>
            <a:srgbClr val="FFFFFF"/>
          </a:solidFill>
          <a:ln/>
        </p:spPr>
      </p:sp>
      <p:sp>
        <p:nvSpPr>
          <p:cNvPr id="18" name="Text 16"/>
          <p:cNvSpPr/>
          <p:nvPr/>
        </p:nvSpPr>
        <p:spPr>
          <a:xfrm>
            <a:off x="777240" y="3191256"/>
            <a:ext cx="457200" cy="457200"/>
          </a:xfrm>
          <a:prstGeom prst="rect">
            <a:avLst/>
          </a:prstGeom>
          <a:noFill/>
          <a:ln/>
        </p:spPr>
        <p:txBody>
          <a:bodyPr wrap="square" lIns="0" tIns="0" rIns="0" bIns="0" rtlCol="0" anchor="ctr"/>
          <a:lstStyle/>
          <a:p>
            <a:pPr algn="ctr" indent="0" marL="0">
              <a:buNone/>
            </a:pPr>
            <a:r>
              <a:rPr lang="en-US" sz="1500" dirty="0">
                <a:solidFill>
                  <a:srgbClr val="000000"/>
                </a:solidFill>
              </a:rPr>
              <a:t>🔍</a:t>
            </a:r>
            <a:endParaRPr lang="en-US" sz="1500" dirty="0"/>
          </a:p>
        </p:txBody>
      </p:sp>
      <p:sp>
        <p:nvSpPr>
          <p:cNvPr id="19" name="Text 17"/>
          <p:cNvSpPr/>
          <p:nvPr/>
        </p:nvSpPr>
        <p:spPr>
          <a:xfrm>
            <a:off x="1417320" y="3118104"/>
            <a:ext cx="3383280" cy="60350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Exploratory Analysis Layer</a:t>
            </a:r>
            <a:endParaRPr lang="en-US" sz="1400" dirty="0"/>
          </a:p>
        </p:txBody>
      </p:sp>
      <p:sp>
        <p:nvSpPr>
          <p:cNvPr id="20" name="Text 18"/>
          <p:cNvSpPr/>
          <p:nvPr/>
        </p:nvSpPr>
        <p:spPr>
          <a:xfrm>
            <a:off x="4937760" y="3118104"/>
            <a:ext cx="6446520" cy="603504"/>
          </a:xfrm>
          <a:prstGeom prst="rect">
            <a:avLst/>
          </a:prstGeom>
          <a:noFill/>
          <a:ln/>
        </p:spPr>
        <p:txBody>
          <a:bodyPr wrap="square" lIns="0" tIns="0" rIns="0" bIns="0" rtlCol="0" anchor="ctr"/>
          <a:lstStyle/>
          <a:p>
            <a:pPr indent="0" marL="0">
              <a:buNone/>
            </a:pPr>
            <a:r>
              <a:rPr lang="en-US" sz="1250" dirty="0">
                <a:solidFill>
                  <a:srgbClr val="C9DDE0"/>
                </a:solidFill>
                <a:latin typeface="Calibri" pitchFamily="34" charset="0"/>
                <a:ea typeface="Calibri" pitchFamily="34" charset="-122"/>
                <a:cs typeface="Calibri" pitchFamily="34" charset="-120"/>
              </a:rPr>
              <a:t>Statistical summaries &amp; visual pattern discovery</a:t>
            </a:r>
            <a:endParaRPr lang="en-US" sz="1250" dirty="0"/>
          </a:p>
        </p:txBody>
      </p:sp>
      <p:sp>
        <p:nvSpPr>
          <p:cNvPr id="21" name="Text 19"/>
          <p:cNvSpPr/>
          <p:nvPr/>
        </p:nvSpPr>
        <p:spPr>
          <a:xfrm>
            <a:off x="685800" y="3703320"/>
            <a:ext cx="274320" cy="146304"/>
          </a:xfrm>
          <a:prstGeom prst="rect">
            <a:avLst/>
          </a:prstGeom>
          <a:noFill/>
          <a:ln/>
        </p:spPr>
        <p:txBody>
          <a:bodyPr wrap="square" lIns="0" tIns="0" rIns="0" bIns="0" rtlCol="0" anchor="ctr"/>
          <a:lstStyle/>
          <a:p>
            <a:pPr algn="ctr" indent="0" marL="0">
              <a:buNone/>
            </a:pPr>
            <a:r>
              <a:rPr lang="en-US" sz="1000" dirty="0">
                <a:solidFill>
                  <a:srgbClr val="F2B441"/>
                </a:solidFill>
              </a:rPr>
              <a:t>↓</a:t>
            </a:r>
            <a:endParaRPr lang="en-US" sz="1000" dirty="0"/>
          </a:p>
        </p:txBody>
      </p:sp>
      <p:sp>
        <p:nvSpPr>
          <p:cNvPr id="22" name="Shape 20"/>
          <p:cNvSpPr/>
          <p:nvPr/>
        </p:nvSpPr>
        <p:spPr>
          <a:xfrm>
            <a:off x="548640" y="3831336"/>
            <a:ext cx="11064240" cy="603504"/>
          </a:xfrm>
          <a:prstGeom prst="roundRect">
            <a:avLst>
              <a:gd name="adj" fmla="val 7576"/>
            </a:avLst>
          </a:prstGeom>
          <a:solidFill>
            <a:srgbClr val="23545E"/>
          </a:solidFill>
          <a:ln/>
        </p:spPr>
      </p:sp>
      <p:sp>
        <p:nvSpPr>
          <p:cNvPr id="23" name="Shape 21"/>
          <p:cNvSpPr/>
          <p:nvPr/>
        </p:nvSpPr>
        <p:spPr>
          <a:xfrm>
            <a:off x="777240" y="3904488"/>
            <a:ext cx="457200" cy="457200"/>
          </a:xfrm>
          <a:prstGeom prst="ellipse">
            <a:avLst/>
          </a:prstGeom>
          <a:solidFill>
            <a:srgbClr val="FFFFFF"/>
          </a:solidFill>
          <a:ln/>
        </p:spPr>
      </p:sp>
      <p:sp>
        <p:nvSpPr>
          <p:cNvPr id="24" name="Text 22"/>
          <p:cNvSpPr/>
          <p:nvPr/>
        </p:nvSpPr>
        <p:spPr>
          <a:xfrm>
            <a:off x="777240" y="3904488"/>
            <a:ext cx="457200" cy="457200"/>
          </a:xfrm>
          <a:prstGeom prst="rect">
            <a:avLst/>
          </a:prstGeom>
          <a:noFill/>
          <a:ln/>
        </p:spPr>
        <p:txBody>
          <a:bodyPr wrap="square" lIns="0" tIns="0" rIns="0" bIns="0" rtlCol="0" anchor="ctr"/>
          <a:lstStyle/>
          <a:p>
            <a:pPr algn="ctr" indent="0" marL="0">
              <a:buNone/>
            </a:pPr>
            <a:r>
              <a:rPr lang="en-US" sz="1500" dirty="0">
                <a:solidFill>
                  <a:srgbClr val="000000"/>
                </a:solidFill>
              </a:rPr>
              <a:t>🧠</a:t>
            </a:r>
            <a:endParaRPr lang="en-US" sz="1500" dirty="0"/>
          </a:p>
        </p:txBody>
      </p:sp>
      <p:sp>
        <p:nvSpPr>
          <p:cNvPr id="25" name="Text 23"/>
          <p:cNvSpPr/>
          <p:nvPr/>
        </p:nvSpPr>
        <p:spPr>
          <a:xfrm>
            <a:off x="1417320" y="3831336"/>
            <a:ext cx="3383280" cy="60350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Model Building Layer</a:t>
            </a:r>
            <a:endParaRPr lang="en-US" sz="1400" dirty="0"/>
          </a:p>
        </p:txBody>
      </p:sp>
      <p:sp>
        <p:nvSpPr>
          <p:cNvPr id="26" name="Text 24"/>
          <p:cNvSpPr/>
          <p:nvPr/>
        </p:nvSpPr>
        <p:spPr>
          <a:xfrm>
            <a:off x="4937760" y="3831336"/>
            <a:ext cx="6446520" cy="603504"/>
          </a:xfrm>
          <a:prstGeom prst="rect">
            <a:avLst/>
          </a:prstGeom>
          <a:noFill/>
          <a:ln/>
        </p:spPr>
        <p:txBody>
          <a:bodyPr wrap="square" lIns="0" tIns="0" rIns="0" bIns="0" rtlCol="0" anchor="ctr"/>
          <a:lstStyle/>
          <a:p>
            <a:pPr indent="0" marL="0">
              <a:buNone/>
            </a:pPr>
            <a:r>
              <a:rPr lang="en-US" sz="1250" dirty="0">
                <a:solidFill>
                  <a:srgbClr val="C9DDE0"/>
                </a:solidFill>
                <a:latin typeface="Calibri" pitchFamily="34" charset="0"/>
                <a:ea typeface="Calibri" pitchFamily="34" charset="-122"/>
                <a:cs typeface="Calibri" pitchFamily="34" charset="-120"/>
              </a:rPr>
              <a:t>Regression &amp; classification models trained</a:t>
            </a:r>
            <a:endParaRPr lang="en-US" sz="1250" dirty="0"/>
          </a:p>
        </p:txBody>
      </p:sp>
      <p:sp>
        <p:nvSpPr>
          <p:cNvPr id="27" name="Text 25"/>
          <p:cNvSpPr/>
          <p:nvPr/>
        </p:nvSpPr>
        <p:spPr>
          <a:xfrm>
            <a:off x="685800" y="4416552"/>
            <a:ext cx="274320" cy="146304"/>
          </a:xfrm>
          <a:prstGeom prst="rect">
            <a:avLst/>
          </a:prstGeom>
          <a:noFill/>
          <a:ln/>
        </p:spPr>
        <p:txBody>
          <a:bodyPr wrap="square" lIns="0" tIns="0" rIns="0" bIns="0" rtlCol="0" anchor="ctr"/>
          <a:lstStyle/>
          <a:p>
            <a:pPr algn="ctr" indent="0" marL="0">
              <a:buNone/>
            </a:pPr>
            <a:r>
              <a:rPr lang="en-US" sz="1000" dirty="0">
                <a:solidFill>
                  <a:srgbClr val="F2B441"/>
                </a:solidFill>
              </a:rPr>
              <a:t>↓</a:t>
            </a:r>
            <a:endParaRPr lang="en-US" sz="1000" dirty="0"/>
          </a:p>
        </p:txBody>
      </p:sp>
      <p:sp>
        <p:nvSpPr>
          <p:cNvPr id="28" name="Shape 26"/>
          <p:cNvSpPr/>
          <p:nvPr/>
        </p:nvSpPr>
        <p:spPr>
          <a:xfrm>
            <a:off x="548640" y="4544568"/>
            <a:ext cx="11064240" cy="603504"/>
          </a:xfrm>
          <a:prstGeom prst="roundRect">
            <a:avLst>
              <a:gd name="adj" fmla="val 7576"/>
            </a:avLst>
          </a:prstGeom>
          <a:solidFill>
            <a:srgbClr val="1F4650"/>
          </a:solidFill>
          <a:ln/>
        </p:spPr>
      </p:sp>
      <p:sp>
        <p:nvSpPr>
          <p:cNvPr id="29" name="Shape 27"/>
          <p:cNvSpPr/>
          <p:nvPr/>
        </p:nvSpPr>
        <p:spPr>
          <a:xfrm>
            <a:off x="777240" y="4617720"/>
            <a:ext cx="457200" cy="457200"/>
          </a:xfrm>
          <a:prstGeom prst="ellipse">
            <a:avLst/>
          </a:prstGeom>
          <a:solidFill>
            <a:srgbClr val="FFFFFF"/>
          </a:solidFill>
          <a:ln/>
        </p:spPr>
      </p:sp>
      <p:sp>
        <p:nvSpPr>
          <p:cNvPr id="30" name="Text 28"/>
          <p:cNvSpPr/>
          <p:nvPr/>
        </p:nvSpPr>
        <p:spPr>
          <a:xfrm>
            <a:off x="777240" y="4617720"/>
            <a:ext cx="457200" cy="457200"/>
          </a:xfrm>
          <a:prstGeom prst="rect">
            <a:avLst/>
          </a:prstGeom>
          <a:noFill/>
          <a:ln/>
        </p:spPr>
        <p:txBody>
          <a:bodyPr wrap="square" lIns="0" tIns="0" rIns="0" bIns="0" rtlCol="0" anchor="ctr"/>
          <a:lstStyle/>
          <a:p>
            <a:pPr algn="ctr" indent="0" marL="0">
              <a:buNone/>
            </a:pPr>
            <a:r>
              <a:rPr lang="en-US" sz="1500" dirty="0">
                <a:solidFill>
                  <a:srgbClr val="000000"/>
                </a:solidFill>
              </a:rPr>
              <a:t>🧪</a:t>
            </a:r>
            <a:endParaRPr lang="en-US" sz="1500" dirty="0"/>
          </a:p>
        </p:txBody>
      </p:sp>
      <p:sp>
        <p:nvSpPr>
          <p:cNvPr id="31" name="Text 29"/>
          <p:cNvSpPr/>
          <p:nvPr/>
        </p:nvSpPr>
        <p:spPr>
          <a:xfrm>
            <a:off x="1417320" y="4544568"/>
            <a:ext cx="3383280" cy="60350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Evaluation &amp; Tuning Layer</a:t>
            </a:r>
            <a:endParaRPr lang="en-US" sz="1400" dirty="0"/>
          </a:p>
        </p:txBody>
      </p:sp>
      <p:sp>
        <p:nvSpPr>
          <p:cNvPr id="32" name="Text 30"/>
          <p:cNvSpPr/>
          <p:nvPr/>
        </p:nvSpPr>
        <p:spPr>
          <a:xfrm>
            <a:off x="4937760" y="4544568"/>
            <a:ext cx="6446520" cy="603504"/>
          </a:xfrm>
          <a:prstGeom prst="rect">
            <a:avLst/>
          </a:prstGeom>
          <a:noFill/>
          <a:ln/>
        </p:spPr>
        <p:txBody>
          <a:bodyPr wrap="square" lIns="0" tIns="0" rIns="0" bIns="0" rtlCol="0" anchor="ctr"/>
          <a:lstStyle/>
          <a:p>
            <a:pPr indent="0" marL="0">
              <a:buNone/>
            </a:pPr>
            <a:r>
              <a:rPr lang="en-US" sz="1250" dirty="0">
                <a:solidFill>
                  <a:srgbClr val="C9DDE0"/>
                </a:solidFill>
                <a:latin typeface="Calibri" pitchFamily="34" charset="0"/>
                <a:ea typeface="Calibri" pitchFamily="34" charset="-122"/>
                <a:cs typeface="Calibri" pitchFamily="34" charset="-120"/>
              </a:rPr>
              <a:t>Metrics compared; hyperparameters optimized</a:t>
            </a:r>
            <a:endParaRPr lang="en-US" sz="1250" dirty="0"/>
          </a:p>
        </p:txBody>
      </p:sp>
      <p:sp>
        <p:nvSpPr>
          <p:cNvPr id="33" name="Text 31"/>
          <p:cNvSpPr/>
          <p:nvPr/>
        </p:nvSpPr>
        <p:spPr>
          <a:xfrm>
            <a:off x="685800" y="5129784"/>
            <a:ext cx="274320" cy="146304"/>
          </a:xfrm>
          <a:prstGeom prst="rect">
            <a:avLst/>
          </a:prstGeom>
          <a:noFill/>
          <a:ln/>
        </p:spPr>
        <p:txBody>
          <a:bodyPr wrap="square" lIns="0" tIns="0" rIns="0" bIns="0" rtlCol="0" anchor="ctr"/>
          <a:lstStyle/>
          <a:p>
            <a:pPr algn="ctr" indent="0" marL="0">
              <a:buNone/>
            </a:pPr>
            <a:r>
              <a:rPr lang="en-US" sz="1000" dirty="0">
                <a:solidFill>
                  <a:srgbClr val="F2B441"/>
                </a:solidFill>
              </a:rPr>
              <a:t>↓</a:t>
            </a:r>
            <a:endParaRPr lang="en-US" sz="1000" dirty="0"/>
          </a:p>
        </p:txBody>
      </p:sp>
      <p:sp>
        <p:nvSpPr>
          <p:cNvPr id="34" name="Shape 32"/>
          <p:cNvSpPr/>
          <p:nvPr/>
        </p:nvSpPr>
        <p:spPr>
          <a:xfrm>
            <a:off x="548640" y="5257800"/>
            <a:ext cx="11064240" cy="603504"/>
          </a:xfrm>
          <a:prstGeom prst="roundRect">
            <a:avLst>
              <a:gd name="adj" fmla="val 7576"/>
            </a:avLst>
          </a:prstGeom>
          <a:solidFill>
            <a:srgbClr val="23545E"/>
          </a:solidFill>
          <a:ln/>
        </p:spPr>
      </p:sp>
      <p:sp>
        <p:nvSpPr>
          <p:cNvPr id="35" name="Shape 33"/>
          <p:cNvSpPr/>
          <p:nvPr/>
        </p:nvSpPr>
        <p:spPr>
          <a:xfrm>
            <a:off x="777240" y="5330952"/>
            <a:ext cx="457200" cy="457200"/>
          </a:xfrm>
          <a:prstGeom prst="ellipse">
            <a:avLst/>
          </a:prstGeom>
          <a:solidFill>
            <a:srgbClr val="FFFFFF"/>
          </a:solidFill>
          <a:ln/>
        </p:spPr>
      </p:sp>
      <p:sp>
        <p:nvSpPr>
          <p:cNvPr id="36" name="Text 34"/>
          <p:cNvSpPr/>
          <p:nvPr/>
        </p:nvSpPr>
        <p:spPr>
          <a:xfrm>
            <a:off x="777240" y="5330952"/>
            <a:ext cx="457200" cy="457200"/>
          </a:xfrm>
          <a:prstGeom prst="rect">
            <a:avLst/>
          </a:prstGeom>
          <a:noFill/>
          <a:ln/>
        </p:spPr>
        <p:txBody>
          <a:bodyPr wrap="square" lIns="0" tIns="0" rIns="0" bIns="0" rtlCol="0" anchor="ctr"/>
          <a:lstStyle/>
          <a:p>
            <a:pPr algn="ctr" indent="0" marL="0">
              <a:buNone/>
            </a:pPr>
            <a:r>
              <a:rPr lang="en-US" sz="1500" dirty="0">
                <a:solidFill>
                  <a:srgbClr val="000000"/>
                </a:solidFill>
              </a:rPr>
              <a:t>📢</a:t>
            </a:r>
            <a:endParaRPr lang="en-US" sz="1500" dirty="0"/>
          </a:p>
        </p:txBody>
      </p:sp>
      <p:sp>
        <p:nvSpPr>
          <p:cNvPr id="37" name="Text 35"/>
          <p:cNvSpPr/>
          <p:nvPr/>
        </p:nvSpPr>
        <p:spPr>
          <a:xfrm>
            <a:off x="1417320" y="5257800"/>
            <a:ext cx="3383280" cy="60350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Insight &amp; Reporting Layer</a:t>
            </a:r>
            <a:endParaRPr lang="en-US" sz="1400" dirty="0"/>
          </a:p>
        </p:txBody>
      </p:sp>
      <p:sp>
        <p:nvSpPr>
          <p:cNvPr id="38" name="Text 36"/>
          <p:cNvSpPr/>
          <p:nvPr/>
        </p:nvSpPr>
        <p:spPr>
          <a:xfrm>
            <a:off x="4937760" y="5257800"/>
            <a:ext cx="6446520" cy="603504"/>
          </a:xfrm>
          <a:prstGeom prst="rect">
            <a:avLst/>
          </a:prstGeom>
          <a:noFill/>
          <a:ln/>
        </p:spPr>
        <p:txBody>
          <a:bodyPr wrap="square" lIns="0" tIns="0" rIns="0" bIns="0" rtlCol="0" anchor="ctr"/>
          <a:lstStyle/>
          <a:p>
            <a:pPr indent="0" marL="0">
              <a:buNone/>
            </a:pPr>
            <a:r>
              <a:rPr lang="en-US" sz="1250" dirty="0">
                <a:solidFill>
                  <a:srgbClr val="C9DDE0"/>
                </a:solidFill>
                <a:latin typeface="Calibri" pitchFamily="34" charset="0"/>
                <a:ea typeface="Calibri" pitchFamily="34" charset="-122"/>
                <a:cs typeface="Calibri" pitchFamily="34" charset="-120"/>
              </a:rPr>
              <a:t>Findings visualized and delivered as a capstone</a:t>
            </a:r>
            <a:endParaRPr lang="en-US" sz="1250" dirty="0"/>
          </a:p>
        </p:txBody>
      </p:sp>
      <p:sp>
        <p:nvSpPr>
          <p:cNvPr id="39" name="Text 37"/>
          <p:cNvSpPr/>
          <p:nvPr/>
        </p:nvSpPr>
        <p:spPr>
          <a:xfrm>
            <a:off x="457200" y="6537960"/>
            <a:ext cx="7315200" cy="274320"/>
          </a:xfrm>
          <a:prstGeom prst="rect">
            <a:avLst/>
          </a:prstGeom>
          <a:noFill/>
          <a:ln/>
        </p:spPr>
        <p:txBody>
          <a:bodyPr wrap="square" lIns="0" tIns="0" rIns="0" bIns="0" rtlCol="0" anchor="ctr"/>
          <a:lstStyle/>
          <a:p>
            <a:pPr algn="l" indent="0" marL="0">
              <a:buNone/>
            </a:pPr>
            <a:r>
              <a:rPr lang="en-US" sz="1000" dirty="0">
                <a:solidFill>
                  <a:srgbClr val="9FB8BC"/>
                </a:solidFill>
                <a:latin typeface="Calibri" pitchFamily="34" charset="0"/>
                <a:ea typeface="Calibri" pitchFamily="34" charset="-122"/>
                <a:cs typeface="Calibri" pitchFamily="34" charset="-120"/>
              </a:rPr>
              <a:t>Data Science Master Virtual Internship  •  Sanjana Kumari</a:t>
            </a:r>
            <a:endParaRPr lang="en-US" sz="1000" dirty="0"/>
          </a:p>
        </p:txBody>
      </p:sp>
      <p:sp>
        <p:nvSpPr>
          <p:cNvPr id="40" name="Text 38"/>
          <p:cNvSpPr/>
          <p:nvPr/>
        </p:nvSpPr>
        <p:spPr>
          <a:xfrm>
            <a:off x="11430000" y="6537960"/>
            <a:ext cx="457200" cy="274320"/>
          </a:xfrm>
          <a:prstGeom prst="rect">
            <a:avLst/>
          </a:prstGeom>
          <a:noFill/>
          <a:ln/>
        </p:spPr>
        <p:txBody>
          <a:bodyPr wrap="square" lIns="0" tIns="0" rIns="0" bIns="0" rtlCol="0" anchor="ctr"/>
          <a:lstStyle/>
          <a:p>
            <a:pPr algn="r" indent="0" marL="0">
              <a:buNone/>
            </a:pPr>
            <a:r>
              <a:rPr lang="en-US" sz="1000" dirty="0">
                <a:solidFill>
                  <a:srgbClr val="9FB8BC"/>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6F6"/>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algn="l" indent="0" marL="0">
              <a:buNone/>
            </a:pPr>
            <a:r>
              <a:rPr lang="en-US" sz="1200" b="1" spc="200" kern="0" dirty="0">
                <a:solidFill>
                  <a:srgbClr val="028090"/>
                </a:solidFill>
                <a:latin typeface="Calibri" pitchFamily="34" charset="0"/>
                <a:ea typeface="Calibri" pitchFamily="34" charset="-122"/>
                <a:cs typeface="Calibri" pitchFamily="34" charset="-120"/>
              </a:rPr>
              <a:t>METHODOLOGY</a:t>
            </a:r>
            <a:endParaRPr lang="en-US" sz="1200" dirty="0"/>
          </a:p>
        </p:txBody>
      </p:sp>
      <p:sp>
        <p:nvSpPr>
          <p:cNvPr id="3" name="Text 1"/>
          <p:cNvSpPr/>
          <p:nvPr/>
        </p:nvSpPr>
        <p:spPr>
          <a:xfrm>
            <a:off x="548640" y="777240"/>
            <a:ext cx="10972800" cy="594360"/>
          </a:xfrm>
          <a:prstGeom prst="rect">
            <a:avLst/>
          </a:prstGeom>
          <a:noFill/>
          <a:ln/>
        </p:spPr>
        <p:txBody>
          <a:bodyPr wrap="square" lIns="0" tIns="0" rIns="0" bIns="0" rtlCol="0" anchor="ctr"/>
          <a:lstStyle/>
          <a:p>
            <a:pPr indent="0" marL="0">
              <a:buNone/>
            </a:pPr>
            <a:r>
              <a:rPr lang="en-US" sz="3200" b="1" dirty="0">
                <a:solidFill>
                  <a:srgbClr val="16262B"/>
                </a:solidFill>
                <a:latin typeface="Cambria" pitchFamily="34" charset="0"/>
                <a:ea typeface="Cambria" pitchFamily="34" charset="-122"/>
                <a:cs typeface="Cambria" pitchFamily="34" charset="-120"/>
              </a:rPr>
              <a:t>The 8-Week Learning Journey</a:t>
            </a:r>
            <a:endParaRPr lang="en-US" sz="3200" dirty="0"/>
          </a:p>
        </p:txBody>
      </p:sp>
      <p:sp>
        <p:nvSpPr>
          <p:cNvPr id="4" name="Shape 2"/>
          <p:cNvSpPr/>
          <p:nvPr/>
        </p:nvSpPr>
        <p:spPr>
          <a:xfrm>
            <a:off x="548640" y="1600200"/>
            <a:ext cx="2606040" cy="2148840"/>
          </a:xfrm>
          <a:prstGeom prst="roundRect">
            <a:avLst>
              <a:gd name="adj" fmla="val 3404"/>
            </a:avLst>
          </a:prstGeom>
          <a:solidFill>
            <a:srgbClr val="FFFFFF"/>
          </a:solidFill>
          <a:ln/>
          <a:effectLst>
            <a:outerShdw sx="100000" sy="100000" kx="0" ky="0" algn="bl" rotWithShape="0" blurRad="76200" dist="25400" dir="5400000">
              <a:srgbClr val="1F2A2E">
                <a:alpha val="10000"/>
              </a:srgbClr>
            </a:outerShdw>
          </a:effectLst>
        </p:spPr>
      </p:sp>
      <p:sp>
        <p:nvSpPr>
          <p:cNvPr id="5" name="Shape 3"/>
          <p:cNvSpPr/>
          <p:nvPr/>
        </p:nvSpPr>
        <p:spPr>
          <a:xfrm>
            <a:off x="777240" y="1828800"/>
            <a:ext cx="502920" cy="502920"/>
          </a:xfrm>
          <a:prstGeom prst="ellipse">
            <a:avLst/>
          </a:prstGeom>
          <a:solidFill>
            <a:srgbClr val="028090"/>
          </a:solidFill>
          <a:ln/>
        </p:spPr>
      </p:sp>
      <p:sp>
        <p:nvSpPr>
          <p:cNvPr id="6" name="Text 4"/>
          <p:cNvSpPr/>
          <p:nvPr/>
        </p:nvSpPr>
        <p:spPr>
          <a:xfrm>
            <a:off x="777240" y="18288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1371600" y="1901952"/>
            <a:ext cx="1463040" cy="274320"/>
          </a:xfrm>
          <a:prstGeom prst="rect">
            <a:avLst/>
          </a:prstGeom>
          <a:noFill/>
          <a:ln/>
        </p:spPr>
        <p:txBody>
          <a:bodyPr wrap="square" lIns="0" tIns="0" rIns="0" bIns="0" rtlCol="0" anchor="ctr"/>
          <a:lstStyle/>
          <a:p>
            <a:pPr indent="0" marL="0">
              <a:buNone/>
            </a:pPr>
            <a:r>
              <a:rPr lang="en-US" sz="1050" b="1" spc="100" kern="0" dirty="0">
                <a:solidFill>
                  <a:srgbClr val="028090"/>
                </a:solidFill>
                <a:latin typeface="Calibri" pitchFamily="34" charset="0"/>
                <a:ea typeface="Calibri" pitchFamily="34" charset="-122"/>
                <a:cs typeface="Calibri" pitchFamily="34" charset="-120"/>
              </a:rPr>
              <a:t>WEEK</a:t>
            </a:r>
            <a:endParaRPr lang="en-US" sz="1050" dirty="0"/>
          </a:p>
        </p:txBody>
      </p:sp>
      <p:sp>
        <p:nvSpPr>
          <p:cNvPr id="8" name="Text 6"/>
          <p:cNvSpPr/>
          <p:nvPr/>
        </p:nvSpPr>
        <p:spPr>
          <a:xfrm>
            <a:off x="777240" y="2514600"/>
            <a:ext cx="2194560" cy="594360"/>
          </a:xfrm>
          <a:prstGeom prst="rect">
            <a:avLst/>
          </a:prstGeom>
          <a:noFill/>
          <a:ln/>
        </p:spPr>
        <p:txBody>
          <a:bodyPr wrap="square" lIns="0" tIns="0" rIns="0" bIns="0" rtlCol="0" anchor="t"/>
          <a:lstStyle/>
          <a:p>
            <a:pPr indent="0" marL="0">
              <a:buNone/>
            </a:pPr>
            <a:r>
              <a:rPr lang="en-US" sz="1300" b="1" dirty="0">
                <a:solidFill>
                  <a:srgbClr val="16262B"/>
                </a:solidFill>
                <a:latin typeface="Calibri" pitchFamily="34" charset="0"/>
                <a:ea typeface="Calibri" pitchFamily="34" charset="-122"/>
                <a:cs typeface="Calibri" pitchFamily="34" charset="-120"/>
              </a:rPr>
              <a:t>Foundations &amp; Statistics</a:t>
            </a:r>
            <a:endParaRPr lang="en-US" sz="1300" dirty="0"/>
          </a:p>
        </p:txBody>
      </p:sp>
      <p:sp>
        <p:nvSpPr>
          <p:cNvPr id="9" name="Text 7"/>
          <p:cNvSpPr/>
          <p:nvPr/>
        </p:nvSpPr>
        <p:spPr>
          <a:xfrm>
            <a:off x="777240" y="3108960"/>
            <a:ext cx="2194560" cy="548640"/>
          </a:xfrm>
          <a:prstGeom prst="rect">
            <a:avLst/>
          </a:prstGeom>
          <a:noFill/>
          <a:ln/>
        </p:spPr>
        <p:txBody>
          <a:bodyPr wrap="square" lIns="0" tIns="0" rIns="0" bIns="0" rtlCol="0" anchor="t"/>
          <a:lstStyle/>
          <a:p>
            <a:pPr indent="0" marL="0">
              <a:buNone/>
            </a:pPr>
            <a:r>
              <a:rPr lang="en-US" sz="1000" dirty="0">
                <a:solidFill>
                  <a:srgbClr val="5B7278"/>
                </a:solidFill>
                <a:latin typeface="Calibri" pitchFamily="34" charset="0"/>
                <a:ea typeface="Calibri" pitchFamily="34" charset="-122"/>
                <a:cs typeface="Calibri" pitchFamily="34" charset="-120"/>
              </a:rPr>
              <a:t>Core statistics and data science principles</a:t>
            </a:r>
            <a:endParaRPr lang="en-US" sz="1000" dirty="0"/>
          </a:p>
        </p:txBody>
      </p:sp>
      <p:sp>
        <p:nvSpPr>
          <p:cNvPr id="10" name="Shape 8"/>
          <p:cNvSpPr/>
          <p:nvPr/>
        </p:nvSpPr>
        <p:spPr>
          <a:xfrm>
            <a:off x="3337560" y="1600200"/>
            <a:ext cx="2606040" cy="2148840"/>
          </a:xfrm>
          <a:prstGeom prst="roundRect">
            <a:avLst>
              <a:gd name="adj" fmla="val 3404"/>
            </a:avLst>
          </a:prstGeom>
          <a:solidFill>
            <a:srgbClr val="FFFFFF"/>
          </a:solidFill>
          <a:ln/>
          <a:effectLst>
            <a:outerShdw sx="100000" sy="100000" kx="0" ky="0" algn="bl" rotWithShape="0" blurRad="76200" dist="25400" dir="5400000">
              <a:srgbClr val="1F2A2E">
                <a:alpha val="10000"/>
              </a:srgbClr>
            </a:outerShdw>
          </a:effectLst>
        </p:spPr>
      </p:sp>
      <p:sp>
        <p:nvSpPr>
          <p:cNvPr id="11" name="Shape 9"/>
          <p:cNvSpPr/>
          <p:nvPr/>
        </p:nvSpPr>
        <p:spPr>
          <a:xfrm>
            <a:off x="3566160" y="1828800"/>
            <a:ext cx="502920" cy="502920"/>
          </a:xfrm>
          <a:prstGeom prst="ellipse">
            <a:avLst/>
          </a:prstGeom>
          <a:solidFill>
            <a:srgbClr val="028090"/>
          </a:solidFill>
          <a:ln/>
        </p:spPr>
      </p:sp>
      <p:sp>
        <p:nvSpPr>
          <p:cNvPr id="12" name="Text 10"/>
          <p:cNvSpPr/>
          <p:nvPr/>
        </p:nvSpPr>
        <p:spPr>
          <a:xfrm>
            <a:off x="3566160" y="18288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3" name="Text 11"/>
          <p:cNvSpPr/>
          <p:nvPr/>
        </p:nvSpPr>
        <p:spPr>
          <a:xfrm>
            <a:off x="4160520" y="1901952"/>
            <a:ext cx="1463040" cy="274320"/>
          </a:xfrm>
          <a:prstGeom prst="rect">
            <a:avLst/>
          </a:prstGeom>
          <a:noFill/>
          <a:ln/>
        </p:spPr>
        <p:txBody>
          <a:bodyPr wrap="square" lIns="0" tIns="0" rIns="0" bIns="0" rtlCol="0" anchor="ctr"/>
          <a:lstStyle/>
          <a:p>
            <a:pPr indent="0" marL="0">
              <a:buNone/>
            </a:pPr>
            <a:r>
              <a:rPr lang="en-US" sz="1050" b="1" spc="100" kern="0" dirty="0">
                <a:solidFill>
                  <a:srgbClr val="028090"/>
                </a:solidFill>
                <a:latin typeface="Calibri" pitchFamily="34" charset="0"/>
                <a:ea typeface="Calibri" pitchFamily="34" charset="-122"/>
                <a:cs typeface="Calibri" pitchFamily="34" charset="-120"/>
              </a:rPr>
              <a:t>WEEK</a:t>
            </a:r>
            <a:endParaRPr lang="en-US" sz="1050" dirty="0"/>
          </a:p>
        </p:txBody>
      </p:sp>
      <p:sp>
        <p:nvSpPr>
          <p:cNvPr id="14" name="Text 12"/>
          <p:cNvSpPr/>
          <p:nvPr/>
        </p:nvSpPr>
        <p:spPr>
          <a:xfrm>
            <a:off x="3566160" y="2514600"/>
            <a:ext cx="2194560" cy="594360"/>
          </a:xfrm>
          <a:prstGeom prst="rect">
            <a:avLst/>
          </a:prstGeom>
          <a:noFill/>
          <a:ln/>
        </p:spPr>
        <p:txBody>
          <a:bodyPr wrap="square" lIns="0" tIns="0" rIns="0" bIns="0" rtlCol="0" anchor="t"/>
          <a:lstStyle/>
          <a:p>
            <a:pPr indent="0" marL="0">
              <a:buNone/>
            </a:pPr>
            <a:r>
              <a:rPr lang="en-US" sz="1300" b="1" dirty="0">
                <a:solidFill>
                  <a:srgbClr val="16262B"/>
                </a:solidFill>
                <a:latin typeface="Calibri" pitchFamily="34" charset="0"/>
                <a:ea typeface="Calibri" pitchFamily="34" charset="-122"/>
                <a:cs typeface="Calibri" pitchFamily="34" charset="-120"/>
              </a:rPr>
              <a:t>Data Wrangling</a:t>
            </a:r>
            <a:endParaRPr lang="en-US" sz="1300" dirty="0"/>
          </a:p>
        </p:txBody>
      </p:sp>
      <p:sp>
        <p:nvSpPr>
          <p:cNvPr id="15" name="Text 13"/>
          <p:cNvSpPr/>
          <p:nvPr/>
        </p:nvSpPr>
        <p:spPr>
          <a:xfrm>
            <a:off x="3566160" y="3108960"/>
            <a:ext cx="2194560" cy="548640"/>
          </a:xfrm>
          <a:prstGeom prst="rect">
            <a:avLst/>
          </a:prstGeom>
          <a:noFill/>
          <a:ln/>
        </p:spPr>
        <p:txBody>
          <a:bodyPr wrap="square" lIns="0" tIns="0" rIns="0" bIns="0" rtlCol="0" anchor="t"/>
          <a:lstStyle/>
          <a:p>
            <a:pPr indent="0" marL="0">
              <a:buNone/>
            </a:pPr>
            <a:r>
              <a:rPr lang="en-US" sz="1000" dirty="0">
                <a:solidFill>
                  <a:srgbClr val="5B7278"/>
                </a:solidFill>
                <a:latin typeface="Calibri" pitchFamily="34" charset="0"/>
                <a:ea typeface="Calibri" pitchFamily="34" charset="-122"/>
                <a:cs typeface="Calibri" pitchFamily="34" charset="-120"/>
              </a:rPr>
              <a:t>Cleaning &amp; transforming data with Python</a:t>
            </a:r>
            <a:endParaRPr lang="en-US" sz="1000" dirty="0"/>
          </a:p>
        </p:txBody>
      </p:sp>
      <p:sp>
        <p:nvSpPr>
          <p:cNvPr id="16" name="Shape 14"/>
          <p:cNvSpPr/>
          <p:nvPr/>
        </p:nvSpPr>
        <p:spPr>
          <a:xfrm>
            <a:off x="6126480" y="1600200"/>
            <a:ext cx="2606040" cy="2148840"/>
          </a:xfrm>
          <a:prstGeom prst="roundRect">
            <a:avLst>
              <a:gd name="adj" fmla="val 3404"/>
            </a:avLst>
          </a:prstGeom>
          <a:solidFill>
            <a:srgbClr val="FFFFFF"/>
          </a:solidFill>
          <a:ln/>
          <a:effectLst>
            <a:outerShdw sx="100000" sy="100000" kx="0" ky="0" algn="bl" rotWithShape="0" blurRad="76200" dist="25400" dir="5400000">
              <a:srgbClr val="1F2A2E">
                <a:alpha val="10000"/>
              </a:srgbClr>
            </a:outerShdw>
          </a:effectLst>
        </p:spPr>
      </p:sp>
      <p:sp>
        <p:nvSpPr>
          <p:cNvPr id="17" name="Shape 15"/>
          <p:cNvSpPr/>
          <p:nvPr/>
        </p:nvSpPr>
        <p:spPr>
          <a:xfrm>
            <a:off x="6355080" y="1828800"/>
            <a:ext cx="502920" cy="502920"/>
          </a:xfrm>
          <a:prstGeom prst="ellipse">
            <a:avLst/>
          </a:prstGeom>
          <a:solidFill>
            <a:srgbClr val="028090"/>
          </a:solidFill>
          <a:ln/>
        </p:spPr>
      </p:sp>
      <p:sp>
        <p:nvSpPr>
          <p:cNvPr id="18" name="Text 16"/>
          <p:cNvSpPr/>
          <p:nvPr/>
        </p:nvSpPr>
        <p:spPr>
          <a:xfrm>
            <a:off x="6355080" y="18288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9" name="Text 17"/>
          <p:cNvSpPr/>
          <p:nvPr/>
        </p:nvSpPr>
        <p:spPr>
          <a:xfrm>
            <a:off x="6949440" y="1901952"/>
            <a:ext cx="1463040" cy="274320"/>
          </a:xfrm>
          <a:prstGeom prst="rect">
            <a:avLst/>
          </a:prstGeom>
          <a:noFill/>
          <a:ln/>
        </p:spPr>
        <p:txBody>
          <a:bodyPr wrap="square" lIns="0" tIns="0" rIns="0" bIns="0" rtlCol="0" anchor="ctr"/>
          <a:lstStyle/>
          <a:p>
            <a:pPr indent="0" marL="0">
              <a:buNone/>
            </a:pPr>
            <a:r>
              <a:rPr lang="en-US" sz="1050" b="1" spc="100" kern="0" dirty="0">
                <a:solidFill>
                  <a:srgbClr val="028090"/>
                </a:solidFill>
                <a:latin typeface="Calibri" pitchFamily="34" charset="0"/>
                <a:ea typeface="Calibri" pitchFamily="34" charset="-122"/>
                <a:cs typeface="Calibri" pitchFamily="34" charset="-120"/>
              </a:rPr>
              <a:t>WEEK</a:t>
            </a:r>
            <a:endParaRPr lang="en-US" sz="1050" dirty="0"/>
          </a:p>
        </p:txBody>
      </p:sp>
      <p:sp>
        <p:nvSpPr>
          <p:cNvPr id="20" name="Text 18"/>
          <p:cNvSpPr/>
          <p:nvPr/>
        </p:nvSpPr>
        <p:spPr>
          <a:xfrm>
            <a:off x="6355080" y="2514600"/>
            <a:ext cx="2194560" cy="594360"/>
          </a:xfrm>
          <a:prstGeom prst="rect">
            <a:avLst/>
          </a:prstGeom>
          <a:noFill/>
          <a:ln/>
        </p:spPr>
        <p:txBody>
          <a:bodyPr wrap="square" lIns="0" tIns="0" rIns="0" bIns="0" rtlCol="0" anchor="t"/>
          <a:lstStyle/>
          <a:p>
            <a:pPr indent="0" marL="0">
              <a:buNone/>
            </a:pPr>
            <a:r>
              <a:rPr lang="en-US" sz="1300" b="1" dirty="0">
                <a:solidFill>
                  <a:srgbClr val="16262B"/>
                </a:solidFill>
                <a:latin typeface="Calibri" pitchFamily="34" charset="0"/>
                <a:ea typeface="Calibri" pitchFamily="34" charset="-122"/>
                <a:cs typeface="Calibri" pitchFamily="34" charset="-120"/>
              </a:rPr>
              <a:t>Exploratory Data Analysis</a:t>
            </a:r>
            <a:endParaRPr lang="en-US" sz="1300" dirty="0"/>
          </a:p>
        </p:txBody>
      </p:sp>
      <p:sp>
        <p:nvSpPr>
          <p:cNvPr id="21" name="Text 19"/>
          <p:cNvSpPr/>
          <p:nvPr/>
        </p:nvSpPr>
        <p:spPr>
          <a:xfrm>
            <a:off x="6355080" y="3108960"/>
            <a:ext cx="2194560" cy="548640"/>
          </a:xfrm>
          <a:prstGeom prst="rect">
            <a:avLst/>
          </a:prstGeom>
          <a:noFill/>
          <a:ln/>
        </p:spPr>
        <p:txBody>
          <a:bodyPr wrap="square" lIns="0" tIns="0" rIns="0" bIns="0" rtlCol="0" anchor="t"/>
          <a:lstStyle/>
          <a:p>
            <a:pPr indent="0" marL="0">
              <a:buNone/>
            </a:pPr>
            <a:r>
              <a:rPr lang="en-US" sz="1000" dirty="0">
                <a:solidFill>
                  <a:srgbClr val="5B7278"/>
                </a:solidFill>
                <a:latin typeface="Calibri" pitchFamily="34" charset="0"/>
                <a:ea typeface="Calibri" pitchFamily="34" charset="-122"/>
                <a:cs typeface="Calibri" pitchFamily="34" charset="-120"/>
              </a:rPr>
              <a:t>Visual &amp; statistical pattern discovery</a:t>
            </a:r>
            <a:endParaRPr lang="en-US" sz="1000" dirty="0"/>
          </a:p>
        </p:txBody>
      </p:sp>
      <p:sp>
        <p:nvSpPr>
          <p:cNvPr id="22" name="Shape 20"/>
          <p:cNvSpPr/>
          <p:nvPr/>
        </p:nvSpPr>
        <p:spPr>
          <a:xfrm>
            <a:off x="8915400" y="1600200"/>
            <a:ext cx="2606040" cy="2148840"/>
          </a:xfrm>
          <a:prstGeom prst="roundRect">
            <a:avLst>
              <a:gd name="adj" fmla="val 3404"/>
            </a:avLst>
          </a:prstGeom>
          <a:solidFill>
            <a:srgbClr val="FFFFFF"/>
          </a:solidFill>
          <a:ln/>
          <a:effectLst>
            <a:outerShdw sx="100000" sy="100000" kx="0" ky="0" algn="bl" rotWithShape="0" blurRad="76200" dist="25400" dir="5400000">
              <a:srgbClr val="1F2A2E">
                <a:alpha val="10000"/>
              </a:srgbClr>
            </a:outerShdw>
          </a:effectLst>
        </p:spPr>
      </p:sp>
      <p:sp>
        <p:nvSpPr>
          <p:cNvPr id="23" name="Shape 21"/>
          <p:cNvSpPr/>
          <p:nvPr/>
        </p:nvSpPr>
        <p:spPr>
          <a:xfrm>
            <a:off x="9144000" y="1828800"/>
            <a:ext cx="502920" cy="502920"/>
          </a:xfrm>
          <a:prstGeom prst="ellipse">
            <a:avLst/>
          </a:prstGeom>
          <a:solidFill>
            <a:srgbClr val="028090"/>
          </a:solidFill>
          <a:ln/>
        </p:spPr>
      </p:sp>
      <p:sp>
        <p:nvSpPr>
          <p:cNvPr id="24" name="Text 22"/>
          <p:cNvSpPr/>
          <p:nvPr/>
        </p:nvSpPr>
        <p:spPr>
          <a:xfrm>
            <a:off x="9144000" y="18288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5" name="Text 23"/>
          <p:cNvSpPr/>
          <p:nvPr/>
        </p:nvSpPr>
        <p:spPr>
          <a:xfrm>
            <a:off x="9738360" y="1901952"/>
            <a:ext cx="1463040" cy="274320"/>
          </a:xfrm>
          <a:prstGeom prst="rect">
            <a:avLst/>
          </a:prstGeom>
          <a:noFill/>
          <a:ln/>
        </p:spPr>
        <p:txBody>
          <a:bodyPr wrap="square" lIns="0" tIns="0" rIns="0" bIns="0" rtlCol="0" anchor="ctr"/>
          <a:lstStyle/>
          <a:p>
            <a:pPr indent="0" marL="0">
              <a:buNone/>
            </a:pPr>
            <a:r>
              <a:rPr lang="en-US" sz="1050" b="1" spc="100" kern="0" dirty="0">
                <a:solidFill>
                  <a:srgbClr val="028090"/>
                </a:solidFill>
                <a:latin typeface="Calibri" pitchFamily="34" charset="0"/>
                <a:ea typeface="Calibri" pitchFamily="34" charset="-122"/>
                <a:cs typeface="Calibri" pitchFamily="34" charset="-120"/>
              </a:rPr>
              <a:t>WEEK</a:t>
            </a:r>
            <a:endParaRPr lang="en-US" sz="1050" dirty="0"/>
          </a:p>
        </p:txBody>
      </p:sp>
      <p:sp>
        <p:nvSpPr>
          <p:cNvPr id="26" name="Text 24"/>
          <p:cNvSpPr/>
          <p:nvPr/>
        </p:nvSpPr>
        <p:spPr>
          <a:xfrm>
            <a:off x="9144000" y="2514600"/>
            <a:ext cx="2194560" cy="594360"/>
          </a:xfrm>
          <a:prstGeom prst="rect">
            <a:avLst/>
          </a:prstGeom>
          <a:noFill/>
          <a:ln/>
        </p:spPr>
        <p:txBody>
          <a:bodyPr wrap="square" lIns="0" tIns="0" rIns="0" bIns="0" rtlCol="0" anchor="t"/>
          <a:lstStyle/>
          <a:p>
            <a:pPr indent="0" marL="0">
              <a:buNone/>
            </a:pPr>
            <a:r>
              <a:rPr lang="en-US" sz="1300" b="1" dirty="0">
                <a:solidFill>
                  <a:srgbClr val="16262B"/>
                </a:solidFill>
                <a:latin typeface="Calibri" pitchFamily="34" charset="0"/>
                <a:ea typeface="Calibri" pitchFamily="34" charset="-122"/>
                <a:cs typeface="Calibri" pitchFamily="34" charset="-120"/>
              </a:rPr>
              <a:t>No-Code ML with RapidMiner</a:t>
            </a:r>
            <a:endParaRPr lang="en-US" sz="1300" dirty="0"/>
          </a:p>
        </p:txBody>
      </p:sp>
      <p:sp>
        <p:nvSpPr>
          <p:cNvPr id="27" name="Text 25"/>
          <p:cNvSpPr/>
          <p:nvPr/>
        </p:nvSpPr>
        <p:spPr>
          <a:xfrm>
            <a:off x="9144000" y="3108960"/>
            <a:ext cx="2194560" cy="548640"/>
          </a:xfrm>
          <a:prstGeom prst="rect">
            <a:avLst/>
          </a:prstGeom>
          <a:noFill/>
          <a:ln/>
        </p:spPr>
        <p:txBody>
          <a:bodyPr wrap="square" lIns="0" tIns="0" rIns="0" bIns="0" rtlCol="0" anchor="t"/>
          <a:lstStyle/>
          <a:p>
            <a:pPr indent="0" marL="0">
              <a:buNone/>
            </a:pPr>
            <a:r>
              <a:rPr lang="en-US" sz="1000" dirty="0">
                <a:solidFill>
                  <a:srgbClr val="5B7278"/>
                </a:solidFill>
                <a:latin typeface="Calibri" pitchFamily="34" charset="0"/>
                <a:ea typeface="Calibri" pitchFamily="34" charset="-122"/>
                <a:cs typeface="Calibri" pitchFamily="34" charset="-120"/>
              </a:rPr>
              <a:t>Building workflows on RapidMiner Studio</a:t>
            </a:r>
            <a:endParaRPr lang="en-US" sz="1000" dirty="0"/>
          </a:p>
        </p:txBody>
      </p:sp>
      <p:sp>
        <p:nvSpPr>
          <p:cNvPr id="28" name="Shape 26"/>
          <p:cNvSpPr/>
          <p:nvPr/>
        </p:nvSpPr>
        <p:spPr>
          <a:xfrm>
            <a:off x="548640" y="3977640"/>
            <a:ext cx="2606040" cy="2148840"/>
          </a:xfrm>
          <a:prstGeom prst="roundRect">
            <a:avLst>
              <a:gd name="adj" fmla="val 3404"/>
            </a:avLst>
          </a:prstGeom>
          <a:solidFill>
            <a:srgbClr val="FFFFFF"/>
          </a:solidFill>
          <a:ln/>
          <a:effectLst>
            <a:outerShdw sx="100000" sy="100000" kx="0" ky="0" algn="bl" rotWithShape="0" blurRad="76200" dist="25400" dir="5400000">
              <a:srgbClr val="1F2A2E">
                <a:alpha val="10000"/>
              </a:srgbClr>
            </a:outerShdw>
          </a:effectLst>
        </p:spPr>
      </p:sp>
      <p:sp>
        <p:nvSpPr>
          <p:cNvPr id="29" name="Shape 27"/>
          <p:cNvSpPr/>
          <p:nvPr/>
        </p:nvSpPr>
        <p:spPr>
          <a:xfrm>
            <a:off x="777240" y="4206240"/>
            <a:ext cx="502920" cy="502920"/>
          </a:xfrm>
          <a:prstGeom prst="ellipse">
            <a:avLst/>
          </a:prstGeom>
          <a:solidFill>
            <a:srgbClr val="028090"/>
          </a:solidFill>
          <a:ln/>
        </p:spPr>
      </p:sp>
      <p:sp>
        <p:nvSpPr>
          <p:cNvPr id="30" name="Text 28"/>
          <p:cNvSpPr/>
          <p:nvPr/>
        </p:nvSpPr>
        <p:spPr>
          <a:xfrm>
            <a:off x="777240" y="42062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31" name="Text 29"/>
          <p:cNvSpPr/>
          <p:nvPr/>
        </p:nvSpPr>
        <p:spPr>
          <a:xfrm>
            <a:off x="1371600" y="4279392"/>
            <a:ext cx="1463040" cy="274320"/>
          </a:xfrm>
          <a:prstGeom prst="rect">
            <a:avLst/>
          </a:prstGeom>
          <a:noFill/>
          <a:ln/>
        </p:spPr>
        <p:txBody>
          <a:bodyPr wrap="square" lIns="0" tIns="0" rIns="0" bIns="0" rtlCol="0" anchor="ctr"/>
          <a:lstStyle/>
          <a:p>
            <a:pPr indent="0" marL="0">
              <a:buNone/>
            </a:pPr>
            <a:r>
              <a:rPr lang="en-US" sz="1050" b="1" spc="100" kern="0" dirty="0">
                <a:solidFill>
                  <a:srgbClr val="028090"/>
                </a:solidFill>
                <a:latin typeface="Calibri" pitchFamily="34" charset="0"/>
                <a:ea typeface="Calibri" pitchFamily="34" charset="-122"/>
                <a:cs typeface="Calibri" pitchFamily="34" charset="-120"/>
              </a:rPr>
              <a:t>WEEK</a:t>
            </a:r>
            <a:endParaRPr lang="en-US" sz="1050" dirty="0"/>
          </a:p>
        </p:txBody>
      </p:sp>
      <p:sp>
        <p:nvSpPr>
          <p:cNvPr id="32" name="Text 30"/>
          <p:cNvSpPr/>
          <p:nvPr/>
        </p:nvSpPr>
        <p:spPr>
          <a:xfrm>
            <a:off x="777240" y="4892040"/>
            <a:ext cx="2194560" cy="594360"/>
          </a:xfrm>
          <a:prstGeom prst="rect">
            <a:avLst/>
          </a:prstGeom>
          <a:noFill/>
          <a:ln/>
        </p:spPr>
        <p:txBody>
          <a:bodyPr wrap="square" lIns="0" tIns="0" rIns="0" bIns="0" rtlCol="0" anchor="t"/>
          <a:lstStyle/>
          <a:p>
            <a:pPr indent="0" marL="0">
              <a:buNone/>
            </a:pPr>
            <a:r>
              <a:rPr lang="en-US" sz="1300" b="1" dirty="0">
                <a:solidFill>
                  <a:srgbClr val="16262B"/>
                </a:solidFill>
                <a:latin typeface="Calibri" pitchFamily="34" charset="0"/>
                <a:ea typeface="Calibri" pitchFamily="34" charset="-122"/>
                <a:cs typeface="Calibri" pitchFamily="34" charset="-120"/>
              </a:rPr>
              <a:t>Regression Models</a:t>
            </a:r>
            <a:endParaRPr lang="en-US" sz="1300" dirty="0"/>
          </a:p>
        </p:txBody>
      </p:sp>
      <p:sp>
        <p:nvSpPr>
          <p:cNvPr id="33" name="Text 31"/>
          <p:cNvSpPr/>
          <p:nvPr/>
        </p:nvSpPr>
        <p:spPr>
          <a:xfrm>
            <a:off x="777240" y="5486400"/>
            <a:ext cx="2194560" cy="548640"/>
          </a:xfrm>
          <a:prstGeom prst="rect">
            <a:avLst/>
          </a:prstGeom>
          <a:noFill/>
          <a:ln/>
        </p:spPr>
        <p:txBody>
          <a:bodyPr wrap="square" lIns="0" tIns="0" rIns="0" bIns="0" rtlCol="0" anchor="t"/>
          <a:lstStyle/>
          <a:p>
            <a:pPr indent="0" marL="0">
              <a:buNone/>
            </a:pPr>
            <a:r>
              <a:rPr lang="en-US" sz="1000" dirty="0">
                <a:solidFill>
                  <a:srgbClr val="5B7278"/>
                </a:solidFill>
                <a:latin typeface="Calibri" pitchFamily="34" charset="0"/>
                <a:ea typeface="Calibri" pitchFamily="34" charset="-122"/>
                <a:cs typeface="Calibri" pitchFamily="34" charset="-120"/>
              </a:rPr>
              <a:t>Predicting continuous outcomes</a:t>
            </a:r>
            <a:endParaRPr lang="en-US" sz="1000" dirty="0"/>
          </a:p>
        </p:txBody>
      </p:sp>
      <p:sp>
        <p:nvSpPr>
          <p:cNvPr id="34" name="Shape 32"/>
          <p:cNvSpPr/>
          <p:nvPr/>
        </p:nvSpPr>
        <p:spPr>
          <a:xfrm>
            <a:off x="3337560" y="3977640"/>
            <a:ext cx="2606040" cy="2148840"/>
          </a:xfrm>
          <a:prstGeom prst="roundRect">
            <a:avLst>
              <a:gd name="adj" fmla="val 3404"/>
            </a:avLst>
          </a:prstGeom>
          <a:solidFill>
            <a:srgbClr val="FFFFFF"/>
          </a:solidFill>
          <a:ln/>
          <a:effectLst>
            <a:outerShdw sx="100000" sy="100000" kx="0" ky="0" algn="bl" rotWithShape="0" blurRad="76200" dist="25400" dir="5400000">
              <a:srgbClr val="1F2A2E">
                <a:alpha val="10000"/>
              </a:srgbClr>
            </a:outerShdw>
          </a:effectLst>
        </p:spPr>
      </p:sp>
      <p:sp>
        <p:nvSpPr>
          <p:cNvPr id="35" name="Shape 33"/>
          <p:cNvSpPr/>
          <p:nvPr/>
        </p:nvSpPr>
        <p:spPr>
          <a:xfrm>
            <a:off x="3566160" y="4206240"/>
            <a:ext cx="502920" cy="502920"/>
          </a:xfrm>
          <a:prstGeom prst="ellipse">
            <a:avLst/>
          </a:prstGeom>
          <a:solidFill>
            <a:srgbClr val="028090"/>
          </a:solidFill>
          <a:ln/>
        </p:spPr>
      </p:sp>
      <p:sp>
        <p:nvSpPr>
          <p:cNvPr id="36" name="Text 34"/>
          <p:cNvSpPr/>
          <p:nvPr/>
        </p:nvSpPr>
        <p:spPr>
          <a:xfrm>
            <a:off x="3566160" y="42062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37" name="Text 35"/>
          <p:cNvSpPr/>
          <p:nvPr/>
        </p:nvSpPr>
        <p:spPr>
          <a:xfrm>
            <a:off x="4160520" y="4279392"/>
            <a:ext cx="1463040" cy="274320"/>
          </a:xfrm>
          <a:prstGeom prst="rect">
            <a:avLst/>
          </a:prstGeom>
          <a:noFill/>
          <a:ln/>
        </p:spPr>
        <p:txBody>
          <a:bodyPr wrap="square" lIns="0" tIns="0" rIns="0" bIns="0" rtlCol="0" anchor="ctr"/>
          <a:lstStyle/>
          <a:p>
            <a:pPr indent="0" marL="0">
              <a:buNone/>
            </a:pPr>
            <a:r>
              <a:rPr lang="en-US" sz="1050" b="1" spc="100" kern="0" dirty="0">
                <a:solidFill>
                  <a:srgbClr val="028090"/>
                </a:solidFill>
                <a:latin typeface="Calibri" pitchFamily="34" charset="0"/>
                <a:ea typeface="Calibri" pitchFamily="34" charset="-122"/>
                <a:cs typeface="Calibri" pitchFamily="34" charset="-120"/>
              </a:rPr>
              <a:t>WEEK</a:t>
            </a:r>
            <a:endParaRPr lang="en-US" sz="1050" dirty="0"/>
          </a:p>
        </p:txBody>
      </p:sp>
      <p:sp>
        <p:nvSpPr>
          <p:cNvPr id="38" name="Text 36"/>
          <p:cNvSpPr/>
          <p:nvPr/>
        </p:nvSpPr>
        <p:spPr>
          <a:xfrm>
            <a:off x="3566160" y="4892040"/>
            <a:ext cx="2194560" cy="594360"/>
          </a:xfrm>
          <a:prstGeom prst="rect">
            <a:avLst/>
          </a:prstGeom>
          <a:noFill/>
          <a:ln/>
        </p:spPr>
        <p:txBody>
          <a:bodyPr wrap="square" lIns="0" tIns="0" rIns="0" bIns="0" rtlCol="0" anchor="t"/>
          <a:lstStyle/>
          <a:p>
            <a:pPr indent="0" marL="0">
              <a:buNone/>
            </a:pPr>
            <a:r>
              <a:rPr lang="en-US" sz="1300" b="1" dirty="0">
                <a:solidFill>
                  <a:srgbClr val="16262B"/>
                </a:solidFill>
                <a:latin typeface="Calibri" pitchFamily="34" charset="0"/>
                <a:ea typeface="Calibri" pitchFamily="34" charset="-122"/>
                <a:cs typeface="Calibri" pitchFamily="34" charset="-120"/>
              </a:rPr>
              <a:t>Classification Models</a:t>
            </a:r>
            <a:endParaRPr lang="en-US" sz="1300" dirty="0"/>
          </a:p>
        </p:txBody>
      </p:sp>
      <p:sp>
        <p:nvSpPr>
          <p:cNvPr id="39" name="Text 37"/>
          <p:cNvSpPr/>
          <p:nvPr/>
        </p:nvSpPr>
        <p:spPr>
          <a:xfrm>
            <a:off x="3566160" y="5486400"/>
            <a:ext cx="2194560" cy="548640"/>
          </a:xfrm>
          <a:prstGeom prst="rect">
            <a:avLst/>
          </a:prstGeom>
          <a:noFill/>
          <a:ln/>
        </p:spPr>
        <p:txBody>
          <a:bodyPr wrap="square" lIns="0" tIns="0" rIns="0" bIns="0" rtlCol="0" anchor="t"/>
          <a:lstStyle/>
          <a:p>
            <a:pPr indent="0" marL="0">
              <a:buNone/>
            </a:pPr>
            <a:r>
              <a:rPr lang="en-US" sz="1000" dirty="0">
                <a:solidFill>
                  <a:srgbClr val="5B7278"/>
                </a:solidFill>
                <a:latin typeface="Calibri" pitchFamily="34" charset="0"/>
                <a:ea typeface="Calibri" pitchFamily="34" charset="-122"/>
                <a:cs typeface="Calibri" pitchFamily="34" charset="-120"/>
              </a:rPr>
              <a:t>Predicting categorical outcomes</a:t>
            </a:r>
            <a:endParaRPr lang="en-US" sz="1000" dirty="0"/>
          </a:p>
        </p:txBody>
      </p:sp>
      <p:sp>
        <p:nvSpPr>
          <p:cNvPr id="40" name="Shape 38"/>
          <p:cNvSpPr/>
          <p:nvPr/>
        </p:nvSpPr>
        <p:spPr>
          <a:xfrm>
            <a:off x="6126480" y="3977640"/>
            <a:ext cx="2606040" cy="2148840"/>
          </a:xfrm>
          <a:prstGeom prst="roundRect">
            <a:avLst>
              <a:gd name="adj" fmla="val 3404"/>
            </a:avLst>
          </a:prstGeom>
          <a:solidFill>
            <a:srgbClr val="FFFFFF"/>
          </a:solidFill>
          <a:ln/>
          <a:effectLst>
            <a:outerShdw sx="100000" sy="100000" kx="0" ky="0" algn="bl" rotWithShape="0" blurRad="76200" dist="25400" dir="5400000">
              <a:srgbClr val="1F2A2E">
                <a:alpha val="10000"/>
              </a:srgbClr>
            </a:outerShdw>
          </a:effectLst>
        </p:spPr>
      </p:sp>
      <p:sp>
        <p:nvSpPr>
          <p:cNvPr id="41" name="Shape 39"/>
          <p:cNvSpPr/>
          <p:nvPr/>
        </p:nvSpPr>
        <p:spPr>
          <a:xfrm>
            <a:off x="6355080" y="4206240"/>
            <a:ext cx="502920" cy="502920"/>
          </a:xfrm>
          <a:prstGeom prst="ellipse">
            <a:avLst/>
          </a:prstGeom>
          <a:solidFill>
            <a:srgbClr val="028090"/>
          </a:solidFill>
          <a:ln/>
        </p:spPr>
      </p:sp>
      <p:sp>
        <p:nvSpPr>
          <p:cNvPr id="42" name="Text 40"/>
          <p:cNvSpPr/>
          <p:nvPr/>
        </p:nvSpPr>
        <p:spPr>
          <a:xfrm>
            <a:off x="6355080" y="42062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7</a:t>
            </a:r>
            <a:endParaRPr lang="en-US" sz="1600" dirty="0"/>
          </a:p>
        </p:txBody>
      </p:sp>
      <p:sp>
        <p:nvSpPr>
          <p:cNvPr id="43" name="Text 41"/>
          <p:cNvSpPr/>
          <p:nvPr/>
        </p:nvSpPr>
        <p:spPr>
          <a:xfrm>
            <a:off x="6949440" y="4279392"/>
            <a:ext cx="1463040" cy="274320"/>
          </a:xfrm>
          <a:prstGeom prst="rect">
            <a:avLst/>
          </a:prstGeom>
          <a:noFill/>
          <a:ln/>
        </p:spPr>
        <p:txBody>
          <a:bodyPr wrap="square" lIns="0" tIns="0" rIns="0" bIns="0" rtlCol="0" anchor="ctr"/>
          <a:lstStyle/>
          <a:p>
            <a:pPr indent="0" marL="0">
              <a:buNone/>
            </a:pPr>
            <a:r>
              <a:rPr lang="en-US" sz="1050" b="1" spc="100" kern="0" dirty="0">
                <a:solidFill>
                  <a:srgbClr val="028090"/>
                </a:solidFill>
                <a:latin typeface="Calibri" pitchFamily="34" charset="0"/>
                <a:ea typeface="Calibri" pitchFamily="34" charset="-122"/>
                <a:cs typeface="Calibri" pitchFamily="34" charset="-120"/>
              </a:rPr>
              <a:t>WEEK</a:t>
            </a:r>
            <a:endParaRPr lang="en-US" sz="1050" dirty="0"/>
          </a:p>
        </p:txBody>
      </p:sp>
      <p:sp>
        <p:nvSpPr>
          <p:cNvPr id="44" name="Text 42"/>
          <p:cNvSpPr/>
          <p:nvPr/>
        </p:nvSpPr>
        <p:spPr>
          <a:xfrm>
            <a:off x="6355080" y="4892040"/>
            <a:ext cx="2194560" cy="594360"/>
          </a:xfrm>
          <a:prstGeom prst="rect">
            <a:avLst/>
          </a:prstGeom>
          <a:noFill/>
          <a:ln/>
        </p:spPr>
        <p:txBody>
          <a:bodyPr wrap="square" lIns="0" tIns="0" rIns="0" bIns="0" rtlCol="0" anchor="t"/>
          <a:lstStyle/>
          <a:p>
            <a:pPr indent="0" marL="0">
              <a:buNone/>
            </a:pPr>
            <a:r>
              <a:rPr lang="en-US" sz="1300" b="1" dirty="0">
                <a:solidFill>
                  <a:srgbClr val="16262B"/>
                </a:solidFill>
                <a:latin typeface="Calibri" pitchFamily="34" charset="0"/>
                <a:ea typeface="Calibri" pitchFamily="34" charset="-122"/>
                <a:cs typeface="Calibri" pitchFamily="34" charset="-120"/>
              </a:rPr>
              <a:t>Evaluation &amp; Tuning</a:t>
            </a:r>
            <a:endParaRPr lang="en-US" sz="1300" dirty="0"/>
          </a:p>
        </p:txBody>
      </p:sp>
      <p:sp>
        <p:nvSpPr>
          <p:cNvPr id="45" name="Text 43"/>
          <p:cNvSpPr/>
          <p:nvPr/>
        </p:nvSpPr>
        <p:spPr>
          <a:xfrm>
            <a:off x="6355080" y="5486400"/>
            <a:ext cx="2194560" cy="548640"/>
          </a:xfrm>
          <a:prstGeom prst="rect">
            <a:avLst/>
          </a:prstGeom>
          <a:noFill/>
          <a:ln/>
        </p:spPr>
        <p:txBody>
          <a:bodyPr wrap="square" lIns="0" tIns="0" rIns="0" bIns="0" rtlCol="0" anchor="t"/>
          <a:lstStyle/>
          <a:p>
            <a:pPr indent="0" marL="0">
              <a:buNone/>
            </a:pPr>
            <a:r>
              <a:rPr lang="en-US" sz="1000" dirty="0">
                <a:solidFill>
                  <a:srgbClr val="5B7278"/>
                </a:solidFill>
                <a:latin typeface="Calibri" pitchFamily="34" charset="0"/>
                <a:ea typeface="Calibri" pitchFamily="34" charset="-122"/>
                <a:cs typeface="Calibri" pitchFamily="34" charset="-120"/>
              </a:rPr>
              <a:t>Metrics, cross-validation &amp; optimization</a:t>
            </a:r>
            <a:endParaRPr lang="en-US" sz="1000" dirty="0"/>
          </a:p>
        </p:txBody>
      </p:sp>
      <p:sp>
        <p:nvSpPr>
          <p:cNvPr id="46" name="Shape 44"/>
          <p:cNvSpPr/>
          <p:nvPr/>
        </p:nvSpPr>
        <p:spPr>
          <a:xfrm>
            <a:off x="8915400" y="3977640"/>
            <a:ext cx="2606040" cy="2148840"/>
          </a:xfrm>
          <a:prstGeom prst="roundRect">
            <a:avLst>
              <a:gd name="adj" fmla="val 3404"/>
            </a:avLst>
          </a:prstGeom>
          <a:solidFill>
            <a:srgbClr val="FFFFFF"/>
          </a:solidFill>
          <a:ln/>
          <a:effectLst>
            <a:outerShdw sx="100000" sy="100000" kx="0" ky="0" algn="bl" rotWithShape="0" blurRad="76200" dist="25400" dir="5400000">
              <a:srgbClr val="1F2A2E">
                <a:alpha val="10000"/>
              </a:srgbClr>
            </a:outerShdw>
          </a:effectLst>
        </p:spPr>
      </p:sp>
      <p:sp>
        <p:nvSpPr>
          <p:cNvPr id="47" name="Shape 45"/>
          <p:cNvSpPr/>
          <p:nvPr/>
        </p:nvSpPr>
        <p:spPr>
          <a:xfrm>
            <a:off x="9144000" y="4206240"/>
            <a:ext cx="502920" cy="502920"/>
          </a:xfrm>
          <a:prstGeom prst="ellipse">
            <a:avLst/>
          </a:prstGeom>
          <a:solidFill>
            <a:srgbClr val="028090"/>
          </a:solidFill>
          <a:ln/>
        </p:spPr>
      </p:sp>
      <p:sp>
        <p:nvSpPr>
          <p:cNvPr id="48" name="Text 46"/>
          <p:cNvSpPr/>
          <p:nvPr/>
        </p:nvSpPr>
        <p:spPr>
          <a:xfrm>
            <a:off x="9144000" y="42062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8</a:t>
            </a:r>
            <a:endParaRPr lang="en-US" sz="1600" dirty="0"/>
          </a:p>
        </p:txBody>
      </p:sp>
      <p:sp>
        <p:nvSpPr>
          <p:cNvPr id="49" name="Text 47"/>
          <p:cNvSpPr/>
          <p:nvPr/>
        </p:nvSpPr>
        <p:spPr>
          <a:xfrm>
            <a:off x="9738360" y="4279392"/>
            <a:ext cx="1463040" cy="274320"/>
          </a:xfrm>
          <a:prstGeom prst="rect">
            <a:avLst/>
          </a:prstGeom>
          <a:noFill/>
          <a:ln/>
        </p:spPr>
        <p:txBody>
          <a:bodyPr wrap="square" lIns="0" tIns="0" rIns="0" bIns="0" rtlCol="0" anchor="ctr"/>
          <a:lstStyle/>
          <a:p>
            <a:pPr indent="0" marL="0">
              <a:buNone/>
            </a:pPr>
            <a:r>
              <a:rPr lang="en-US" sz="1050" b="1" spc="100" kern="0" dirty="0">
                <a:solidFill>
                  <a:srgbClr val="028090"/>
                </a:solidFill>
                <a:latin typeface="Calibri" pitchFamily="34" charset="0"/>
                <a:ea typeface="Calibri" pitchFamily="34" charset="-122"/>
                <a:cs typeface="Calibri" pitchFamily="34" charset="-120"/>
              </a:rPr>
              <a:t>WEEK</a:t>
            </a:r>
            <a:endParaRPr lang="en-US" sz="1050" dirty="0"/>
          </a:p>
        </p:txBody>
      </p:sp>
      <p:sp>
        <p:nvSpPr>
          <p:cNvPr id="50" name="Text 48"/>
          <p:cNvSpPr/>
          <p:nvPr/>
        </p:nvSpPr>
        <p:spPr>
          <a:xfrm>
            <a:off x="9144000" y="4892040"/>
            <a:ext cx="2194560" cy="594360"/>
          </a:xfrm>
          <a:prstGeom prst="rect">
            <a:avLst/>
          </a:prstGeom>
          <a:noFill/>
          <a:ln/>
        </p:spPr>
        <p:txBody>
          <a:bodyPr wrap="square" lIns="0" tIns="0" rIns="0" bIns="0" rtlCol="0" anchor="t"/>
          <a:lstStyle/>
          <a:p>
            <a:pPr indent="0" marL="0">
              <a:buNone/>
            </a:pPr>
            <a:r>
              <a:rPr lang="en-US" sz="1300" b="1" dirty="0">
                <a:solidFill>
                  <a:srgbClr val="16262B"/>
                </a:solidFill>
                <a:latin typeface="Calibri" pitchFamily="34" charset="0"/>
                <a:ea typeface="Calibri" pitchFamily="34" charset="-122"/>
                <a:cs typeface="Calibri" pitchFamily="34" charset="-120"/>
              </a:rPr>
              <a:t>Capstone Project</a:t>
            </a:r>
            <a:endParaRPr lang="en-US" sz="1300" dirty="0"/>
          </a:p>
        </p:txBody>
      </p:sp>
      <p:sp>
        <p:nvSpPr>
          <p:cNvPr id="51" name="Text 49"/>
          <p:cNvSpPr/>
          <p:nvPr/>
        </p:nvSpPr>
        <p:spPr>
          <a:xfrm>
            <a:off x="9144000" y="5486400"/>
            <a:ext cx="2194560" cy="548640"/>
          </a:xfrm>
          <a:prstGeom prst="rect">
            <a:avLst/>
          </a:prstGeom>
          <a:noFill/>
          <a:ln/>
        </p:spPr>
        <p:txBody>
          <a:bodyPr wrap="square" lIns="0" tIns="0" rIns="0" bIns="0" rtlCol="0" anchor="t"/>
          <a:lstStyle/>
          <a:p>
            <a:pPr indent="0" marL="0">
              <a:buNone/>
            </a:pPr>
            <a:r>
              <a:rPr lang="en-US" sz="1000" dirty="0">
                <a:solidFill>
                  <a:srgbClr val="5B7278"/>
                </a:solidFill>
                <a:latin typeface="Calibri" pitchFamily="34" charset="0"/>
                <a:ea typeface="Calibri" pitchFamily="34" charset="-122"/>
                <a:cs typeface="Calibri" pitchFamily="34" charset="-120"/>
              </a:rPr>
              <a:t>End-to-end data science case study</a:t>
            </a:r>
            <a:endParaRPr lang="en-US" sz="1000" dirty="0"/>
          </a:p>
        </p:txBody>
      </p:sp>
      <p:sp>
        <p:nvSpPr>
          <p:cNvPr id="52" name="Text 50"/>
          <p:cNvSpPr/>
          <p:nvPr/>
        </p:nvSpPr>
        <p:spPr>
          <a:xfrm>
            <a:off x="457200" y="6537960"/>
            <a:ext cx="7315200" cy="274320"/>
          </a:xfrm>
          <a:prstGeom prst="rect">
            <a:avLst/>
          </a:prstGeom>
          <a:noFill/>
          <a:ln/>
        </p:spPr>
        <p:txBody>
          <a:bodyPr wrap="square" lIns="0" tIns="0" rIns="0" bIns="0" rtlCol="0" anchor="ctr"/>
          <a:lstStyle/>
          <a:p>
            <a:pPr algn="l" indent="0" marL="0">
              <a:buNone/>
            </a:pPr>
            <a:r>
              <a:rPr lang="en-US" sz="1000" dirty="0">
                <a:solidFill>
                  <a:srgbClr val="5B7278"/>
                </a:solidFill>
                <a:latin typeface="Calibri" pitchFamily="34" charset="0"/>
                <a:ea typeface="Calibri" pitchFamily="34" charset="-122"/>
                <a:cs typeface="Calibri" pitchFamily="34" charset="-120"/>
              </a:rPr>
              <a:t>Data Science Master Virtual Internship  •  Sanjana Kumari</a:t>
            </a:r>
            <a:endParaRPr lang="en-US" sz="1000" dirty="0"/>
          </a:p>
        </p:txBody>
      </p:sp>
      <p:sp>
        <p:nvSpPr>
          <p:cNvPr id="53" name="Text 51"/>
          <p:cNvSpPr/>
          <p:nvPr/>
        </p:nvSpPr>
        <p:spPr>
          <a:xfrm>
            <a:off x="11430000" y="6537960"/>
            <a:ext cx="457200" cy="274320"/>
          </a:xfrm>
          <a:prstGeom prst="rect">
            <a:avLst/>
          </a:prstGeom>
          <a:noFill/>
          <a:ln/>
        </p:spPr>
        <p:txBody>
          <a:bodyPr wrap="square" lIns="0" tIns="0" rIns="0" bIns="0" rtlCol="0" anchor="ctr"/>
          <a:lstStyle/>
          <a:p>
            <a:pPr algn="r" indent="0" marL="0">
              <a:buNone/>
            </a:pPr>
            <a:r>
              <a:rPr lang="en-US" sz="1000" dirty="0">
                <a:solidFill>
                  <a:srgbClr val="5B7278"/>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7315200" cy="320040"/>
          </a:xfrm>
          <a:prstGeom prst="rect">
            <a:avLst/>
          </a:prstGeom>
          <a:noFill/>
          <a:ln/>
        </p:spPr>
        <p:txBody>
          <a:bodyPr wrap="square" lIns="0" tIns="0" rIns="0" bIns="0" rtlCol="0" anchor="ctr"/>
          <a:lstStyle/>
          <a:p>
            <a:pPr algn="l" indent="0" marL="0">
              <a:buNone/>
            </a:pPr>
            <a:r>
              <a:rPr lang="en-US" sz="1200" b="1" spc="200" kern="0" dirty="0">
                <a:solidFill>
                  <a:srgbClr val="028090"/>
                </a:solidFill>
                <a:latin typeface="Calibri" pitchFamily="34" charset="0"/>
                <a:ea typeface="Calibri" pitchFamily="34" charset="-122"/>
                <a:cs typeface="Calibri" pitchFamily="34" charset="-120"/>
              </a:rPr>
              <a:t>EXPECTED OUTCOMES</a:t>
            </a:r>
            <a:endParaRPr lang="en-US" sz="1200" dirty="0"/>
          </a:p>
        </p:txBody>
      </p:sp>
      <p:sp>
        <p:nvSpPr>
          <p:cNvPr id="3" name="Text 1"/>
          <p:cNvSpPr/>
          <p:nvPr/>
        </p:nvSpPr>
        <p:spPr>
          <a:xfrm>
            <a:off x="548640" y="868680"/>
            <a:ext cx="10972800" cy="640080"/>
          </a:xfrm>
          <a:prstGeom prst="rect">
            <a:avLst/>
          </a:prstGeom>
          <a:noFill/>
          <a:ln/>
        </p:spPr>
        <p:txBody>
          <a:bodyPr wrap="square" lIns="0" tIns="0" rIns="0" bIns="0" rtlCol="0" anchor="ctr"/>
          <a:lstStyle/>
          <a:p>
            <a:pPr indent="0" marL="0">
              <a:buNone/>
            </a:pPr>
            <a:r>
              <a:rPr lang="en-US" sz="3200" b="1" dirty="0">
                <a:solidFill>
                  <a:srgbClr val="16262B"/>
                </a:solidFill>
                <a:latin typeface="Cambria" pitchFamily="34" charset="0"/>
                <a:ea typeface="Cambria" pitchFamily="34" charset="-122"/>
                <a:cs typeface="Cambria" pitchFamily="34" charset="-120"/>
              </a:rPr>
              <a:t>Skills &amp; Capabilities Gained</a:t>
            </a:r>
            <a:endParaRPr lang="en-US" sz="3200" dirty="0"/>
          </a:p>
        </p:txBody>
      </p:sp>
      <p:sp>
        <p:nvSpPr>
          <p:cNvPr id="4" name="Shape 2"/>
          <p:cNvSpPr/>
          <p:nvPr/>
        </p:nvSpPr>
        <p:spPr>
          <a:xfrm>
            <a:off x="548640" y="1828800"/>
            <a:ext cx="384048" cy="384048"/>
          </a:xfrm>
          <a:prstGeom prst="ellipse">
            <a:avLst/>
          </a:prstGeom>
          <a:solidFill>
            <a:srgbClr val="02C39A"/>
          </a:solidFill>
          <a:ln/>
        </p:spPr>
      </p:sp>
      <p:sp>
        <p:nvSpPr>
          <p:cNvPr id="5" name="Text 3"/>
          <p:cNvSpPr/>
          <p:nvPr/>
        </p:nvSpPr>
        <p:spPr>
          <a:xfrm>
            <a:off x="548640" y="182880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rPr>
              <a:t>✓</a:t>
            </a:r>
            <a:endParaRPr lang="en-US" sz="1500" dirty="0"/>
          </a:p>
        </p:txBody>
      </p:sp>
      <p:sp>
        <p:nvSpPr>
          <p:cNvPr id="6" name="Text 4"/>
          <p:cNvSpPr/>
          <p:nvPr/>
        </p:nvSpPr>
        <p:spPr>
          <a:xfrm>
            <a:off x="1097280" y="1783080"/>
            <a:ext cx="10424160" cy="502920"/>
          </a:xfrm>
          <a:prstGeom prst="rect">
            <a:avLst/>
          </a:prstGeom>
          <a:noFill/>
          <a:ln/>
        </p:spPr>
        <p:txBody>
          <a:bodyPr wrap="square" lIns="0" tIns="0" rIns="0" bIns="0" rtlCol="0" anchor="ctr"/>
          <a:lstStyle/>
          <a:p>
            <a:pPr indent="0" marL="0">
              <a:buNone/>
            </a:pPr>
            <a:r>
              <a:rPr lang="en-US" sz="1450" dirty="0">
                <a:solidFill>
                  <a:srgbClr val="16262B"/>
                </a:solidFill>
                <a:latin typeface="Calibri" pitchFamily="34" charset="0"/>
                <a:ea typeface="Calibri" pitchFamily="34" charset="-122"/>
                <a:cs typeface="Calibri" pitchFamily="34" charset="-120"/>
              </a:rPr>
              <a:t>Ability to clean, wrangle and explore real-world datasets using Python (Pandas &amp; NumPy)</a:t>
            </a:r>
            <a:endParaRPr lang="en-US" sz="1450" dirty="0"/>
          </a:p>
        </p:txBody>
      </p:sp>
      <p:sp>
        <p:nvSpPr>
          <p:cNvPr id="7" name="Shape 5"/>
          <p:cNvSpPr/>
          <p:nvPr/>
        </p:nvSpPr>
        <p:spPr>
          <a:xfrm>
            <a:off x="548640" y="2487168"/>
            <a:ext cx="384048" cy="384048"/>
          </a:xfrm>
          <a:prstGeom prst="ellipse">
            <a:avLst/>
          </a:prstGeom>
          <a:solidFill>
            <a:srgbClr val="02C39A"/>
          </a:solidFill>
          <a:ln/>
        </p:spPr>
      </p:sp>
      <p:sp>
        <p:nvSpPr>
          <p:cNvPr id="8" name="Text 6"/>
          <p:cNvSpPr/>
          <p:nvPr/>
        </p:nvSpPr>
        <p:spPr>
          <a:xfrm>
            <a:off x="548640" y="248716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rPr>
              <a:t>✓</a:t>
            </a:r>
            <a:endParaRPr lang="en-US" sz="1500" dirty="0"/>
          </a:p>
        </p:txBody>
      </p:sp>
      <p:sp>
        <p:nvSpPr>
          <p:cNvPr id="9" name="Text 7"/>
          <p:cNvSpPr/>
          <p:nvPr/>
        </p:nvSpPr>
        <p:spPr>
          <a:xfrm>
            <a:off x="1097280" y="2441448"/>
            <a:ext cx="10424160" cy="502920"/>
          </a:xfrm>
          <a:prstGeom prst="rect">
            <a:avLst/>
          </a:prstGeom>
          <a:noFill/>
          <a:ln/>
        </p:spPr>
        <p:txBody>
          <a:bodyPr wrap="square" lIns="0" tIns="0" rIns="0" bIns="0" rtlCol="0" anchor="ctr"/>
          <a:lstStyle/>
          <a:p>
            <a:pPr indent="0" marL="0">
              <a:buNone/>
            </a:pPr>
            <a:r>
              <a:rPr lang="en-US" sz="1450" dirty="0">
                <a:solidFill>
                  <a:srgbClr val="16262B"/>
                </a:solidFill>
                <a:latin typeface="Calibri" pitchFamily="34" charset="0"/>
                <a:ea typeface="Calibri" pitchFamily="34" charset="-122"/>
                <a:cs typeface="Calibri" pitchFamily="34" charset="-120"/>
              </a:rPr>
              <a:t>Practical understanding of building machine learning models with RapidMiner and Python</a:t>
            </a:r>
            <a:endParaRPr lang="en-US" sz="1450" dirty="0"/>
          </a:p>
        </p:txBody>
      </p:sp>
      <p:sp>
        <p:nvSpPr>
          <p:cNvPr id="10" name="Shape 8"/>
          <p:cNvSpPr/>
          <p:nvPr/>
        </p:nvSpPr>
        <p:spPr>
          <a:xfrm>
            <a:off x="548640" y="3145536"/>
            <a:ext cx="384048" cy="384048"/>
          </a:xfrm>
          <a:prstGeom prst="ellipse">
            <a:avLst/>
          </a:prstGeom>
          <a:solidFill>
            <a:srgbClr val="02C39A"/>
          </a:solidFill>
          <a:ln/>
        </p:spPr>
      </p:sp>
      <p:sp>
        <p:nvSpPr>
          <p:cNvPr id="11" name="Text 9"/>
          <p:cNvSpPr/>
          <p:nvPr/>
        </p:nvSpPr>
        <p:spPr>
          <a:xfrm>
            <a:off x="548640" y="314553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rPr>
              <a:t>✓</a:t>
            </a:r>
            <a:endParaRPr lang="en-US" sz="1500" dirty="0"/>
          </a:p>
        </p:txBody>
      </p:sp>
      <p:sp>
        <p:nvSpPr>
          <p:cNvPr id="12" name="Text 10"/>
          <p:cNvSpPr/>
          <p:nvPr/>
        </p:nvSpPr>
        <p:spPr>
          <a:xfrm>
            <a:off x="1097280" y="3099816"/>
            <a:ext cx="10424160" cy="502920"/>
          </a:xfrm>
          <a:prstGeom prst="rect">
            <a:avLst/>
          </a:prstGeom>
          <a:noFill/>
          <a:ln/>
        </p:spPr>
        <p:txBody>
          <a:bodyPr wrap="square" lIns="0" tIns="0" rIns="0" bIns="0" rtlCol="0" anchor="ctr"/>
          <a:lstStyle/>
          <a:p>
            <a:pPr indent="0" marL="0">
              <a:buNone/>
            </a:pPr>
            <a:r>
              <a:rPr lang="en-US" sz="1450" dirty="0">
                <a:solidFill>
                  <a:srgbClr val="16262B"/>
                </a:solidFill>
                <a:latin typeface="Calibri" pitchFamily="34" charset="0"/>
                <a:ea typeface="Calibri" pitchFamily="34" charset="-122"/>
                <a:cs typeface="Calibri" pitchFamily="34" charset="-120"/>
              </a:rPr>
              <a:t>Hands-on exposure to regression, classification and model evaluation techniques</a:t>
            </a:r>
            <a:endParaRPr lang="en-US" sz="1450" dirty="0"/>
          </a:p>
        </p:txBody>
      </p:sp>
      <p:sp>
        <p:nvSpPr>
          <p:cNvPr id="13" name="Shape 11"/>
          <p:cNvSpPr/>
          <p:nvPr/>
        </p:nvSpPr>
        <p:spPr>
          <a:xfrm>
            <a:off x="548640" y="3803904"/>
            <a:ext cx="384048" cy="384048"/>
          </a:xfrm>
          <a:prstGeom prst="ellipse">
            <a:avLst/>
          </a:prstGeom>
          <a:solidFill>
            <a:srgbClr val="02C39A"/>
          </a:solidFill>
          <a:ln/>
        </p:spPr>
      </p:sp>
      <p:sp>
        <p:nvSpPr>
          <p:cNvPr id="14" name="Text 12"/>
          <p:cNvSpPr/>
          <p:nvPr/>
        </p:nvSpPr>
        <p:spPr>
          <a:xfrm>
            <a:off x="548640" y="3803904"/>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rPr>
              <a:t>✓</a:t>
            </a:r>
            <a:endParaRPr lang="en-US" sz="1500" dirty="0"/>
          </a:p>
        </p:txBody>
      </p:sp>
      <p:sp>
        <p:nvSpPr>
          <p:cNvPr id="15" name="Text 13"/>
          <p:cNvSpPr/>
          <p:nvPr/>
        </p:nvSpPr>
        <p:spPr>
          <a:xfrm>
            <a:off x="1097280" y="3758184"/>
            <a:ext cx="10424160" cy="502920"/>
          </a:xfrm>
          <a:prstGeom prst="rect">
            <a:avLst/>
          </a:prstGeom>
          <a:noFill/>
          <a:ln/>
        </p:spPr>
        <p:txBody>
          <a:bodyPr wrap="square" lIns="0" tIns="0" rIns="0" bIns="0" rtlCol="0" anchor="ctr"/>
          <a:lstStyle/>
          <a:p>
            <a:pPr indent="0" marL="0">
              <a:buNone/>
            </a:pPr>
            <a:r>
              <a:rPr lang="en-US" sz="1450" dirty="0">
                <a:solidFill>
                  <a:srgbClr val="16262B"/>
                </a:solidFill>
                <a:latin typeface="Calibri" pitchFamily="34" charset="0"/>
                <a:ea typeface="Calibri" pitchFamily="34" charset="-122"/>
                <a:cs typeface="Calibri" pitchFamily="34" charset="-120"/>
              </a:rPr>
              <a:t>Capability to visualize data and communicate insights clearly through charts and reports</a:t>
            </a:r>
            <a:endParaRPr lang="en-US" sz="1450" dirty="0"/>
          </a:p>
        </p:txBody>
      </p:sp>
      <p:sp>
        <p:nvSpPr>
          <p:cNvPr id="16" name="Shape 14"/>
          <p:cNvSpPr/>
          <p:nvPr/>
        </p:nvSpPr>
        <p:spPr>
          <a:xfrm>
            <a:off x="548640" y="4462272"/>
            <a:ext cx="384048" cy="384048"/>
          </a:xfrm>
          <a:prstGeom prst="ellipse">
            <a:avLst/>
          </a:prstGeom>
          <a:solidFill>
            <a:srgbClr val="02C39A"/>
          </a:solidFill>
          <a:ln/>
        </p:spPr>
      </p:sp>
      <p:sp>
        <p:nvSpPr>
          <p:cNvPr id="17" name="Text 15"/>
          <p:cNvSpPr/>
          <p:nvPr/>
        </p:nvSpPr>
        <p:spPr>
          <a:xfrm>
            <a:off x="548640" y="446227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rPr>
              <a:t>✓</a:t>
            </a:r>
            <a:endParaRPr lang="en-US" sz="1500" dirty="0"/>
          </a:p>
        </p:txBody>
      </p:sp>
      <p:sp>
        <p:nvSpPr>
          <p:cNvPr id="18" name="Text 16"/>
          <p:cNvSpPr/>
          <p:nvPr/>
        </p:nvSpPr>
        <p:spPr>
          <a:xfrm>
            <a:off x="1097280" y="4416552"/>
            <a:ext cx="10424160" cy="502920"/>
          </a:xfrm>
          <a:prstGeom prst="rect">
            <a:avLst/>
          </a:prstGeom>
          <a:noFill/>
          <a:ln/>
        </p:spPr>
        <p:txBody>
          <a:bodyPr wrap="square" lIns="0" tIns="0" rIns="0" bIns="0" rtlCol="0" anchor="ctr"/>
          <a:lstStyle/>
          <a:p>
            <a:pPr indent="0" marL="0">
              <a:buNone/>
            </a:pPr>
            <a:r>
              <a:rPr lang="en-US" sz="1450" dirty="0">
                <a:solidFill>
                  <a:srgbClr val="16262B"/>
                </a:solidFill>
                <a:latin typeface="Calibri" pitchFamily="34" charset="0"/>
                <a:ea typeface="Calibri" pitchFamily="34" charset="-122"/>
                <a:cs typeface="Calibri" pitchFamily="34" charset="-120"/>
              </a:rPr>
              <a:t>Skill to build an end-to-end data science pipeline, from raw data to actionable insight</a:t>
            </a:r>
            <a:endParaRPr lang="en-US" sz="1450" dirty="0"/>
          </a:p>
        </p:txBody>
      </p:sp>
      <p:sp>
        <p:nvSpPr>
          <p:cNvPr id="19" name="Shape 17"/>
          <p:cNvSpPr/>
          <p:nvPr/>
        </p:nvSpPr>
        <p:spPr>
          <a:xfrm>
            <a:off x="548640" y="5120640"/>
            <a:ext cx="384048" cy="384048"/>
          </a:xfrm>
          <a:prstGeom prst="ellipse">
            <a:avLst/>
          </a:prstGeom>
          <a:solidFill>
            <a:srgbClr val="02C39A"/>
          </a:solidFill>
          <a:ln/>
        </p:spPr>
      </p:sp>
      <p:sp>
        <p:nvSpPr>
          <p:cNvPr id="20" name="Text 18"/>
          <p:cNvSpPr/>
          <p:nvPr/>
        </p:nvSpPr>
        <p:spPr>
          <a:xfrm>
            <a:off x="548640" y="512064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rPr>
              <a:t>✓</a:t>
            </a:r>
            <a:endParaRPr lang="en-US" sz="1500" dirty="0"/>
          </a:p>
        </p:txBody>
      </p:sp>
      <p:sp>
        <p:nvSpPr>
          <p:cNvPr id="21" name="Text 19"/>
          <p:cNvSpPr/>
          <p:nvPr/>
        </p:nvSpPr>
        <p:spPr>
          <a:xfrm>
            <a:off x="1097280" y="5074920"/>
            <a:ext cx="10424160" cy="502920"/>
          </a:xfrm>
          <a:prstGeom prst="rect">
            <a:avLst/>
          </a:prstGeom>
          <a:noFill/>
          <a:ln/>
        </p:spPr>
        <p:txBody>
          <a:bodyPr wrap="square" lIns="0" tIns="0" rIns="0" bIns="0" rtlCol="0" anchor="ctr"/>
          <a:lstStyle/>
          <a:p>
            <a:pPr indent="0" marL="0">
              <a:buNone/>
            </a:pPr>
            <a:r>
              <a:rPr lang="en-US" sz="1450" dirty="0">
                <a:solidFill>
                  <a:srgbClr val="16262B"/>
                </a:solidFill>
                <a:latin typeface="Calibri" pitchFamily="34" charset="0"/>
                <a:ea typeface="Calibri" pitchFamily="34" charset="-122"/>
                <a:cs typeface="Calibri" pitchFamily="34" charset="-120"/>
              </a:rPr>
              <a:t>Completed all learning-pathway modules &amp; the capstone project; cleared the Final Credential Validation with an “Outstanding” grade</a:t>
            </a:r>
            <a:endParaRPr lang="en-US" sz="1450" dirty="0"/>
          </a:p>
        </p:txBody>
      </p:sp>
      <p:sp>
        <p:nvSpPr>
          <p:cNvPr id="22" name="Text 20"/>
          <p:cNvSpPr/>
          <p:nvPr/>
        </p:nvSpPr>
        <p:spPr>
          <a:xfrm>
            <a:off x="457200" y="6537960"/>
            <a:ext cx="7315200" cy="274320"/>
          </a:xfrm>
          <a:prstGeom prst="rect">
            <a:avLst/>
          </a:prstGeom>
          <a:noFill/>
          <a:ln/>
        </p:spPr>
        <p:txBody>
          <a:bodyPr wrap="square" lIns="0" tIns="0" rIns="0" bIns="0" rtlCol="0" anchor="ctr"/>
          <a:lstStyle/>
          <a:p>
            <a:pPr algn="l" indent="0" marL="0">
              <a:buNone/>
            </a:pPr>
            <a:r>
              <a:rPr lang="en-US" sz="1000" dirty="0">
                <a:solidFill>
                  <a:srgbClr val="5B7278"/>
                </a:solidFill>
                <a:latin typeface="Calibri" pitchFamily="34" charset="0"/>
                <a:ea typeface="Calibri" pitchFamily="34" charset="-122"/>
                <a:cs typeface="Calibri" pitchFamily="34" charset="-120"/>
              </a:rPr>
              <a:t>Data Science Master Virtual Internship  •  Sanjana Kumari</a:t>
            </a:r>
            <a:endParaRPr lang="en-US" sz="1000" dirty="0"/>
          </a:p>
        </p:txBody>
      </p:sp>
      <p:sp>
        <p:nvSpPr>
          <p:cNvPr id="23" name="Text 21"/>
          <p:cNvSpPr/>
          <p:nvPr/>
        </p:nvSpPr>
        <p:spPr>
          <a:xfrm>
            <a:off x="11430000" y="6537960"/>
            <a:ext cx="457200" cy="274320"/>
          </a:xfrm>
          <a:prstGeom prst="rect">
            <a:avLst/>
          </a:prstGeom>
          <a:noFill/>
          <a:ln/>
        </p:spPr>
        <p:txBody>
          <a:bodyPr wrap="square" lIns="0" tIns="0" rIns="0" bIns="0" rtlCol="0" anchor="ctr"/>
          <a:lstStyle/>
          <a:p>
            <a:pPr algn="r" indent="0" marL="0">
              <a:buNone/>
            </a:pPr>
            <a:r>
              <a:rPr lang="en-US" sz="1000" dirty="0">
                <a:solidFill>
                  <a:srgbClr val="5B7278"/>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7323D"/>
        </a:solidFill>
      </p:bgPr>
    </p:bg>
    <p:spTree>
      <p:nvGrpSpPr>
        <p:cNvPr id="1" name=""/>
        <p:cNvGrpSpPr/>
        <p:nvPr/>
      </p:nvGrpSpPr>
      <p:grpSpPr>
        <a:xfrm>
          <a:off x="0" y="0"/>
          <a:ext cx="0" cy="0"/>
          <a:chOff x="0" y="0"/>
          <a:chExt cx="0" cy="0"/>
        </a:xfrm>
      </p:grpSpPr>
      <p:sp>
        <p:nvSpPr>
          <p:cNvPr id="2" name="Shape 0"/>
          <p:cNvSpPr/>
          <p:nvPr/>
        </p:nvSpPr>
        <p:spPr>
          <a:xfrm>
            <a:off x="-1554480" y="-1554480"/>
            <a:ext cx="5029200" cy="5029200"/>
          </a:xfrm>
          <a:prstGeom prst="ellipse">
            <a:avLst/>
          </a:prstGeom>
          <a:solidFill>
            <a:srgbClr val="028090">
              <a:alpha val="45000"/>
            </a:srgbClr>
          </a:solidFill>
          <a:ln/>
        </p:spPr>
      </p:sp>
      <p:sp>
        <p:nvSpPr>
          <p:cNvPr id="3" name="Text 1"/>
          <p:cNvSpPr/>
          <p:nvPr/>
        </p:nvSpPr>
        <p:spPr>
          <a:xfrm>
            <a:off x="548640" y="548640"/>
            <a:ext cx="7315200" cy="320040"/>
          </a:xfrm>
          <a:prstGeom prst="rect">
            <a:avLst/>
          </a:prstGeom>
          <a:noFill/>
          <a:ln/>
        </p:spPr>
        <p:txBody>
          <a:bodyPr wrap="square" lIns="0" tIns="0" rIns="0" bIns="0" rtlCol="0" anchor="ctr"/>
          <a:lstStyle/>
          <a:p>
            <a:pPr algn="l" indent="0" marL="0">
              <a:buNone/>
            </a:pPr>
            <a:r>
              <a:rPr lang="en-US" sz="1200" b="1" spc="200" kern="0" dirty="0">
                <a:solidFill>
                  <a:srgbClr val="F2B441"/>
                </a:solidFill>
                <a:latin typeface="Calibri" pitchFamily="34" charset="0"/>
                <a:ea typeface="Calibri" pitchFamily="34" charset="-122"/>
                <a:cs typeface="Calibri" pitchFamily="34" charset="-120"/>
              </a:rPr>
              <a:t>CERTIFICATION</a:t>
            </a:r>
            <a:endParaRPr lang="en-US" sz="1200" dirty="0"/>
          </a:p>
        </p:txBody>
      </p:sp>
      <p:sp>
        <p:nvSpPr>
          <p:cNvPr id="4" name="Text 2"/>
          <p:cNvSpPr/>
          <p:nvPr/>
        </p:nvSpPr>
        <p:spPr>
          <a:xfrm>
            <a:off x="548640" y="896112"/>
            <a:ext cx="5943600" cy="8229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Successfully Completed</a:t>
            </a:r>
            <a:endParaRPr lang="en-US" sz="3000" dirty="0"/>
          </a:p>
        </p:txBody>
      </p:sp>
      <p:sp>
        <p:nvSpPr>
          <p:cNvPr id="5" name="Shape 3"/>
          <p:cNvSpPr/>
          <p:nvPr/>
        </p:nvSpPr>
        <p:spPr>
          <a:xfrm>
            <a:off x="548640" y="1965960"/>
            <a:ext cx="502920" cy="502920"/>
          </a:xfrm>
          <a:prstGeom prst="ellipse">
            <a:avLst/>
          </a:prstGeom>
          <a:solidFill>
            <a:srgbClr val="22454F"/>
          </a:solidFill>
          <a:ln/>
        </p:spPr>
      </p:sp>
      <p:sp>
        <p:nvSpPr>
          <p:cNvPr id="6" name="Text 4"/>
          <p:cNvSpPr/>
          <p:nvPr/>
        </p:nvSpPr>
        <p:spPr>
          <a:xfrm>
            <a:off x="548640" y="1965960"/>
            <a:ext cx="502920" cy="502920"/>
          </a:xfrm>
          <a:prstGeom prst="rect">
            <a:avLst/>
          </a:prstGeom>
          <a:noFill/>
          <a:ln/>
        </p:spPr>
        <p:txBody>
          <a:bodyPr wrap="square" lIns="0" tIns="0" rIns="0" bIns="0" rtlCol="0" anchor="ctr"/>
          <a:lstStyle/>
          <a:p>
            <a:pPr algn="ctr" indent="0" marL="0">
              <a:buNone/>
            </a:pPr>
            <a:r>
              <a:rPr lang="en-US" sz="1700" dirty="0">
                <a:solidFill>
                  <a:srgbClr val="000000"/>
                </a:solidFill>
              </a:rPr>
              <a:t>🏅</a:t>
            </a:r>
            <a:endParaRPr lang="en-US" sz="1700" dirty="0"/>
          </a:p>
        </p:txBody>
      </p:sp>
      <p:sp>
        <p:nvSpPr>
          <p:cNvPr id="7" name="Text 5"/>
          <p:cNvSpPr/>
          <p:nvPr/>
        </p:nvSpPr>
        <p:spPr>
          <a:xfrm>
            <a:off x="1234440" y="1938528"/>
            <a:ext cx="4389120" cy="292608"/>
          </a:xfrm>
          <a:prstGeom prst="rect">
            <a:avLst/>
          </a:prstGeom>
          <a:noFill/>
          <a:ln/>
        </p:spPr>
        <p:txBody>
          <a:bodyPr wrap="square" lIns="0" tIns="0" rIns="0" bIns="0" rtlCol="0" anchor="ctr"/>
          <a:lstStyle/>
          <a:p>
            <a:pPr indent="0" marL="0">
              <a:buNone/>
            </a:pPr>
            <a:r>
              <a:rPr lang="en-US" sz="1250" b="1" dirty="0">
                <a:solidFill>
                  <a:srgbClr val="F2B441"/>
                </a:solidFill>
                <a:latin typeface="Calibri" pitchFamily="34" charset="0"/>
                <a:ea typeface="Calibri" pitchFamily="34" charset="-122"/>
                <a:cs typeface="Calibri" pitchFamily="34" charset="-120"/>
              </a:rPr>
              <a:t>Grade</a:t>
            </a:r>
            <a:endParaRPr lang="en-US" sz="1250" dirty="0"/>
          </a:p>
        </p:txBody>
      </p:sp>
      <p:sp>
        <p:nvSpPr>
          <p:cNvPr id="8" name="Text 6"/>
          <p:cNvSpPr/>
          <p:nvPr/>
        </p:nvSpPr>
        <p:spPr>
          <a:xfrm>
            <a:off x="1234440" y="2212848"/>
            <a:ext cx="4572000" cy="320040"/>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O – Outstanding</a:t>
            </a:r>
            <a:endParaRPr lang="en-US" sz="1450" dirty="0"/>
          </a:p>
        </p:txBody>
      </p:sp>
      <p:sp>
        <p:nvSpPr>
          <p:cNvPr id="9" name="Shape 7"/>
          <p:cNvSpPr/>
          <p:nvPr/>
        </p:nvSpPr>
        <p:spPr>
          <a:xfrm>
            <a:off x="548640" y="2834640"/>
            <a:ext cx="502920" cy="502920"/>
          </a:xfrm>
          <a:prstGeom prst="ellipse">
            <a:avLst/>
          </a:prstGeom>
          <a:solidFill>
            <a:srgbClr val="22454F"/>
          </a:solidFill>
          <a:ln/>
        </p:spPr>
      </p:sp>
      <p:sp>
        <p:nvSpPr>
          <p:cNvPr id="10" name="Text 8"/>
          <p:cNvSpPr/>
          <p:nvPr/>
        </p:nvSpPr>
        <p:spPr>
          <a:xfrm>
            <a:off x="548640" y="2834640"/>
            <a:ext cx="502920" cy="502920"/>
          </a:xfrm>
          <a:prstGeom prst="rect">
            <a:avLst/>
          </a:prstGeom>
          <a:noFill/>
          <a:ln/>
        </p:spPr>
        <p:txBody>
          <a:bodyPr wrap="square" lIns="0" tIns="0" rIns="0" bIns="0" rtlCol="0" anchor="ctr"/>
          <a:lstStyle/>
          <a:p>
            <a:pPr algn="ctr" indent="0" marL="0">
              <a:buNone/>
            </a:pPr>
            <a:r>
              <a:rPr lang="en-US" sz="1700" dirty="0">
                <a:solidFill>
                  <a:srgbClr val="000000"/>
                </a:solidFill>
              </a:rPr>
              <a:t>🎫</a:t>
            </a:r>
            <a:endParaRPr lang="en-US" sz="1700" dirty="0"/>
          </a:p>
        </p:txBody>
      </p:sp>
      <p:sp>
        <p:nvSpPr>
          <p:cNvPr id="11" name="Text 9"/>
          <p:cNvSpPr/>
          <p:nvPr/>
        </p:nvSpPr>
        <p:spPr>
          <a:xfrm>
            <a:off x="1234440" y="2807208"/>
            <a:ext cx="4389120" cy="292608"/>
          </a:xfrm>
          <a:prstGeom prst="rect">
            <a:avLst/>
          </a:prstGeom>
          <a:noFill/>
          <a:ln/>
        </p:spPr>
        <p:txBody>
          <a:bodyPr wrap="square" lIns="0" tIns="0" rIns="0" bIns="0" rtlCol="0" anchor="ctr"/>
          <a:lstStyle/>
          <a:p>
            <a:pPr indent="0" marL="0">
              <a:buNone/>
            </a:pPr>
            <a:r>
              <a:rPr lang="en-US" sz="1250" b="1" dirty="0">
                <a:solidFill>
                  <a:srgbClr val="F2B441"/>
                </a:solidFill>
                <a:latin typeface="Calibri" pitchFamily="34" charset="0"/>
                <a:ea typeface="Calibri" pitchFamily="34" charset="-122"/>
                <a:cs typeface="Calibri" pitchFamily="34" charset="-120"/>
              </a:rPr>
              <a:t>Certificate ID</a:t>
            </a:r>
            <a:endParaRPr lang="en-US" sz="1250" dirty="0"/>
          </a:p>
        </p:txBody>
      </p:sp>
      <p:sp>
        <p:nvSpPr>
          <p:cNvPr id="12" name="Text 10"/>
          <p:cNvSpPr/>
          <p:nvPr/>
        </p:nvSpPr>
        <p:spPr>
          <a:xfrm>
            <a:off x="1234440" y="3081528"/>
            <a:ext cx="4572000" cy="320040"/>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4402a47bd7638643c724</a:t>
            </a:r>
            <a:endParaRPr lang="en-US" sz="1450" dirty="0"/>
          </a:p>
        </p:txBody>
      </p:sp>
      <p:sp>
        <p:nvSpPr>
          <p:cNvPr id="13" name="Shape 11"/>
          <p:cNvSpPr/>
          <p:nvPr/>
        </p:nvSpPr>
        <p:spPr>
          <a:xfrm>
            <a:off x="548640" y="3703320"/>
            <a:ext cx="502920" cy="502920"/>
          </a:xfrm>
          <a:prstGeom prst="ellipse">
            <a:avLst/>
          </a:prstGeom>
          <a:solidFill>
            <a:srgbClr val="22454F"/>
          </a:solidFill>
          <a:ln/>
        </p:spPr>
      </p:sp>
      <p:sp>
        <p:nvSpPr>
          <p:cNvPr id="14" name="Text 12"/>
          <p:cNvSpPr/>
          <p:nvPr/>
        </p:nvSpPr>
        <p:spPr>
          <a:xfrm>
            <a:off x="548640" y="3703320"/>
            <a:ext cx="502920" cy="502920"/>
          </a:xfrm>
          <a:prstGeom prst="rect">
            <a:avLst/>
          </a:prstGeom>
          <a:noFill/>
          <a:ln/>
        </p:spPr>
        <p:txBody>
          <a:bodyPr wrap="square" lIns="0" tIns="0" rIns="0" bIns="0" rtlCol="0" anchor="ctr"/>
          <a:lstStyle/>
          <a:p>
            <a:pPr algn="ctr" indent="0" marL="0">
              <a:buNone/>
            </a:pPr>
            <a:r>
              <a:rPr lang="en-US" sz="1700" dirty="0">
                <a:solidFill>
                  <a:srgbClr val="000000"/>
                </a:solidFill>
              </a:rPr>
              <a:t>🪪</a:t>
            </a:r>
            <a:endParaRPr lang="en-US" sz="1700" dirty="0"/>
          </a:p>
        </p:txBody>
      </p:sp>
      <p:sp>
        <p:nvSpPr>
          <p:cNvPr id="15" name="Text 13"/>
          <p:cNvSpPr/>
          <p:nvPr/>
        </p:nvSpPr>
        <p:spPr>
          <a:xfrm>
            <a:off x="1234440" y="3675888"/>
            <a:ext cx="4389120" cy="292608"/>
          </a:xfrm>
          <a:prstGeom prst="rect">
            <a:avLst/>
          </a:prstGeom>
          <a:noFill/>
          <a:ln/>
        </p:spPr>
        <p:txBody>
          <a:bodyPr wrap="square" lIns="0" tIns="0" rIns="0" bIns="0" rtlCol="0" anchor="ctr"/>
          <a:lstStyle/>
          <a:p>
            <a:pPr indent="0" marL="0">
              <a:buNone/>
            </a:pPr>
            <a:r>
              <a:rPr lang="en-US" sz="1250" b="1" dirty="0">
                <a:solidFill>
                  <a:srgbClr val="F2B441"/>
                </a:solidFill>
                <a:latin typeface="Calibri" pitchFamily="34" charset="0"/>
                <a:ea typeface="Calibri" pitchFamily="34" charset="-122"/>
                <a:cs typeface="Calibri" pitchFamily="34" charset="-120"/>
              </a:rPr>
              <a:t>Roll Number</a:t>
            </a:r>
            <a:endParaRPr lang="en-US" sz="1250" dirty="0"/>
          </a:p>
        </p:txBody>
      </p:sp>
      <p:sp>
        <p:nvSpPr>
          <p:cNvPr id="16" name="Text 14"/>
          <p:cNvSpPr/>
          <p:nvPr/>
        </p:nvSpPr>
        <p:spPr>
          <a:xfrm>
            <a:off x="1234440" y="3950208"/>
            <a:ext cx="4572000" cy="320040"/>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2410031590</a:t>
            </a:r>
            <a:endParaRPr lang="en-US" sz="1450" dirty="0"/>
          </a:p>
        </p:txBody>
      </p:sp>
      <p:sp>
        <p:nvSpPr>
          <p:cNvPr id="17" name="Shape 15"/>
          <p:cNvSpPr/>
          <p:nvPr/>
        </p:nvSpPr>
        <p:spPr>
          <a:xfrm>
            <a:off x="548640" y="4572000"/>
            <a:ext cx="502920" cy="502920"/>
          </a:xfrm>
          <a:prstGeom prst="ellipse">
            <a:avLst/>
          </a:prstGeom>
          <a:solidFill>
            <a:srgbClr val="22454F"/>
          </a:solidFill>
          <a:ln/>
        </p:spPr>
      </p:sp>
      <p:sp>
        <p:nvSpPr>
          <p:cNvPr id="18" name="Text 16"/>
          <p:cNvSpPr/>
          <p:nvPr/>
        </p:nvSpPr>
        <p:spPr>
          <a:xfrm>
            <a:off x="548640" y="4572000"/>
            <a:ext cx="502920" cy="502920"/>
          </a:xfrm>
          <a:prstGeom prst="rect">
            <a:avLst/>
          </a:prstGeom>
          <a:noFill/>
          <a:ln/>
        </p:spPr>
        <p:txBody>
          <a:bodyPr wrap="square" lIns="0" tIns="0" rIns="0" bIns="0" rtlCol="0" anchor="ctr"/>
          <a:lstStyle/>
          <a:p>
            <a:pPr algn="ctr" indent="0" marL="0">
              <a:buNone/>
            </a:pPr>
            <a:r>
              <a:rPr lang="en-US" sz="1700" dirty="0">
                <a:solidFill>
                  <a:srgbClr val="000000"/>
                </a:solidFill>
              </a:rPr>
              <a:t>📅</a:t>
            </a:r>
            <a:endParaRPr lang="en-US" sz="1700" dirty="0"/>
          </a:p>
        </p:txBody>
      </p:sp>
      <p:sp>
        <p:nvSpPr>
          <p:cNvPr id="19" name="Text 17"/>
          <p:cNvSpPr/>
          <p:nvPr/>
        </p:nvSpPr>
        <p:spPr>
          <a:xfrm>
            <a:off x="1234440" y="4544568"/>
            <a:ext cx="4389120" cy="292608"/>
          </a:xfrm>
          <a:prstGeom prst="rect">
            <a:avLst/>
          </a:prstGeom>
          <a:noFill/>
          <a:ln/>
        </p:spPr>
        <p:txBody>
          <a:bodyPr wrap="square" lIns="0" tIns="0" rIns="0" bIns="0" rtlCol="0" anchor="ctr"/>
          <a:lstStyle/>
          <a:p>
            <a:pPr indent="0" marL="0">
              <a:buNone/>
            </a:pPr>
            <a:r>
              <a:rPr lang="en-US" sz="1250" b="1" dirty="0">
                <a:solidFill>
                  <a:srgbClr val="F2B441"/>
                </a:solidFill>
                <a:latin typeface="Calibri" pitchFamily="34" charset="0"/>
                <a:ea typeface="Calibri" pitchFamily="34" charset="-122"/>
                <a:cs typeface="Calibri" pitchFamily="34" charset="-120"/>
              </a:rPr>
              <a:t>Duration</a:t>
            </a:r>
            <a:endParaRPr lang="en-US" sz="1250" dirty="0"/>
          </a:p>
        </p:txBody>
      </p:sp>
      <p:sp>
        <p:nvSpPr>
          <p:cNvPr id="20" name="Text 18"/>
          <p:cNvSpPr/>
          <p:nvPr/>
        </p:nvSpPr>
        <p:spPr>
          <a:xfrm>
            <a:off x="1234440" y="4818888"/>
            <a:ext cx="4572000" cy="320040"/>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8 Weeks | April – June 2026</a:t>
            </a:r>
            <a:endParaRPr lang="en-US" sz="1450" dirty="0"/>
          </a:p>
        </p:txBody>
      </p:sp>
      <p:sp>
        <p:nvSpPr>
          <p:cNvPr id="21" name="Shape 19"/>
          <p:cNvSpPr/>
          <p:nvPr/>
        </p:nvSpPr>
        <p:spPr>
          <a:xfrm>
            <a:off x="6720840" y="685800"/>
            <a:ext cx="4937760" cy="5486400"/>
          </a:xfrm>
          <a:prstGeom prst="roundRect">
            <a:avLst>
              <a:gd name="adj" fmla="val 741"/>
            </a:avLst>
          </a:prstGeom>
          <a:solidFill>
            <a:srgbClr val="FFFFFF"/>
          </a:solidFill>
          <a:ln/>
          <a:effectLst>
            <a:outerShdw sx="100000" sy="100000" kx="0" ky="0" algn="bl" rotWithShape="0" blurRad="152400" dist="50800" dir="5400000">
              <a:srgbClr val="000000">
                <a:alpha val="35000"/>
              </a:srgbClr>
            </a:outerShdw>
          </a:effectLst>
        </p:spPr>
      </p:sp>
      <p:pic>
        <p:nvPicPr>
          <p:cNvPr id="22" name="Image 0" descr="/home/claude/work/certificate_0.png">    </p:cNvPr>
          <p:cNvPicPr>
            <a:picLocks noChangeAspect="1"/>
          </p:cNvPicPr>
          <p:nvPr/>
        </p:nvPicPr>
        <p:blipFill>
          <a:blip r:embed="rId1"/>
          <a:stretch>
            <a:fillRect/>
          </a:stretch>
        </p:blipFill>
        <p:spPr>
          <a:xfrm>
            <a:off x="6903720" y="868680"/>
            <a:ext cx="4572000" cy="5120640"/>
          </a:xfrm>
          <a:prstGeom prst="rect">
            <a:avLst/>
          </a:prstGeom>
        </p:spPr>
      </p:pic>
      <p:sp>
        <p:nvSpPr>
          <p:cNvPr id="23" name="Text 20"/>
          <p:cNvSpPr/>
          <p:nvPr/>
        </p:nvSpPr>
        <p:spPr>
          <a:xfrm>
            <a:off x="457200" y="6537960"/>
            <a:ext cx="7315200" cy="274320"/>
          </a:xfrm>
          <a:prstGeom prst="rect">
            <a:avLst/>
          </a:prstGeom>
          <a:noFill/>
          <a:ln/>
        </p:spPr>
        <p:txBody>
          <a:bodyPr wrap="square" lIns="0" tIns="0" rIns="0" bIns="0" rtlCol="0" anchor="ctr"/>
          <a:lstStyle/>
          <a:p>
            <a:pPr algn="l" indent="0" marL="0">
              <a:buNone/>
            </a:pPr>
            <a:r>
              <a:rPr lang="en-US" sz="1000" dirty="0">
                <a:solidFill>
                  <a:srgbClr val="9FB8BC"/>
                </a:solidFill>
                <a:latin typeface="Calibri" pitchFamily="34" charset="0"/>
                <a:ea typeface="Calibri" pitchFamily="34" charset="-122"/>
                <a:cs typeface="Calibri" pitchFamily="34" charset="-120"/>
              </a:rPr>
              <a:t>Data Science Master Virtual Internship  •  Sanjana Kumari</a:t>
            </a:r>
            <a:endParaRPr lang="en-US" sz="1000" dirty="0"/>
          </a:p>
        </p:txBody>
      </p:sp>
      <p:sp>
        <p:nvSpPr>
          <p:cNvPr id="24" name="Text 21"/>
          <p:cNvSpPr/>
          <p:nvPr/>
        </p:nvSpPr>
        <p:spPr>
          <a:xfrm>
            <a:off x="11430000" y="6537960"/>
            <a:ext cx="457200" cy="274320"/>
          </a:xfrm>
          <a:prstGeom prst="rect">
            <a:avLst/>
          </a:prstGeom>
          <a:noFill/>
          <a:ln/>
        </p:spPr>
        <p:txBody>
          <a:bodyPr wrap="square" lIns="0" tIns="0" rIns="0" bIns="0" rtlCol="0" anchor="ctr"/>
          <a:lstStyle/>
          <a:p>
            <a:pPr algn="r" indent="0" marL="0">
              <a:buNone/>
            </a:pPr>
            <a:r>
              <a:rPr lang="en-US" sz="1000" dirty="0">
                <a:solidFill>
                  <a:srgbClr val="9FB8BC"/>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7323D"/>
        </a:solidFill>
      </p:bgPr>
    </p:bg>
    <p:spTree>
      <p:nvGrpSpPr>
        <p:cNvPr id="1" name=""/>
        <p:cNvGrpSpPr/>
        <p:nvPr/>
      </p:nvGrpSpPr>
      <p:grpSpPr>
        <a:xfrm>
          <a:off x="0" y="0"/>
          <a:ext cx="0" cy="0"/>
          <a:chOff x="0" y="0"/>
          <a:chExt cx="0" cy="0"/>
        </a:xfrm>
      </p:grpSpPr>
      <p:sp>
        <p:nvSpPr>
          <p:cNvPr id="2" name="Shape 0"/>
          <p:cNvSpPr/>
          <p:nvPr/>
        </p:nvSpPr>
        <p:spPr>
          <a:xfrm>
            <a:off x="9784080" y="-2103120"/>
            <a:ext cx="5943600" cy="5943600"/>
          </a:xfrm>
          <a:prstGeom prst="ellipse">
            <a:avLst/>
          </a:prstGeom>
          <a:solidFill>
            <a:srgbClr val="028090">
              <a:alpha val="45000"/>
            </a:srgbClr>
          </a:solidFill>
          <a:ln/>
        </p:spPr>
      </p:sp>
      <p:sp>
        <p:nvSpPr>
          <p:cNvPr id="3" name="Shape 1"/>
          <p:cNvSpPr/>
          <p:nvPr/>
        </p:nvSpPr>
        <p:spPr>
          <a:xfrm>
            <a:off x="-1463040" y="5120640"/>
            <a:ext cx="4206240" cy="4206240"/>
          </a:xfrm>
          <a:prstGeom prst="ellipse">
            <a:avLst/>
          </a:prstGeom>
          <a:solidFill>
            <a:srgbClr val="028090">
              <a:alpha val="45000"/>
            </a:srgbClr>
          </a:solidFill>
          <a:ln/>
        </p:spPr>
      </p:sp>
      <p:pic>
        <p:nvPicPr>
          <p:cNvPr id="4" name="Image 0" descr="/home/claude/work/iilm_logo-000.jpg">    </p:cNvPr>
          <p:cNvPicPr>
            <a:picLocks noChangeAspect="1"/>
          </p:cNvPicPr>
          <p:nvPr/>
        </p:nvPicPr>
        <p:blipFill>
          <a:blip r:embed="rId1"/>
          <a:stretch>
            <a:fillRect/>
          </a:stretch>
        </p:blipFill>
        <p:spPr>
          <a:xfrm>
            <a:off x="5870448" y="1417320"/>
            <a:ext cx="457200" cy="420624"/>
          </a:xfrm>
          <a:prstGeom prst="rect">
            <a:avLst/>
          </a:prstGeom>
        </p:spPr>
      </p:pic>
      <p:sp>
        <p:nvSpPr>
          <p:cNvPr id="5" name="Text 2"/>
          <p:cNvSpPr/>
          <p:nvPr/>
        </p:nvSpPr>
        <p:spPr>
          <a:xfrm>
            <a:off x="0" y="2377440"/>
            <a:ext cx="12188952" cy="914400"/>
          </a:xfrm>
          <a:prstGeom prst="rect">
            <a:avLst/>
          </a:prstGeom>
          <a:noFill/>
          <a:ln/>
        </p:spPr>
        <p:txBody>
          <a:bodyPr wrap="square" lIns="0" tIns="0" rIns="0" bIns="0" rtlCol="0" anchor="ctr"/>
          <a:lstStyle/>
          <a:p>
            <a:pPr algn="ctr" indent="0" marL="0">
              <a:buNone/>
            </a:pPr>
            <a:r>
              <a:rPr lang="en-US" sz="4600" b="1" dirty="0">
                <a:solidFill>
                  <a:srgbClr val="FFFFFF"/>
                </a:solidFill>
                <a:latin typeface="Cambria" pitchFamily="34" charset="0"/>
                <a:ea typeface="Cambria" pitchFamily="34" charset="-122"/>
                <a:cs typeface="Cambria" pitchFamily="34" charset="-120"/>
              </a:rPr>
              <a:t>Thank You</a:t>
            </a:r>
            <a:endParaRPr lang="en-US" sz="4600" dirty="0"/>
          </a:p>
        </p:txBody>
      </p:sp>
      <p:sp>
        <p:nvSpPr>
          <p:cNvPr id="6" name="Text 3"/>
          <p:cNvSpPr/>
          <p:nvPr/>
        </p:nvSpPr>
        <p:spPr>
          <a:xfrm>
            <a:off x="0" y="3291840"/>
            <a:ext cx="12188952" cy="365760"/>
          </a:xfrm>
          <a:prstGeom prst="rect">
            <a:avLst/>
          </a:prstGeom>
          <a:noFill/>
          <a:ln/>
        </p:spPr>
        <p:txBody>
          <a:bodyPr wrap="square" lIns="0" tIns="0" rIns="0" bIns="0" rtlCol="0" anchor="ctr"/>
          <a:lstStyle/>
          <a:p>
            <a:pPr algn="ctr" indent="0" marL="0">
              <a:buNone/>
            </a:pPr>
            <a:r>
              <a:rPr lang="en-US" sz="1400" dirty="0">
                <a:solidFill>
                  <a:srgbClr val="B9CDD1"/>
                </a:solidFill>
                <a:latin typeface="Calibri" pitchFamily="34" charset="0"/>
                <a:ea typeface="Calibri" pitchFamily="34" charset="-122"/>
                <a:cs typeface="Calibri" pitchFamily="34" charset="-120"/>
              </a:rPr>
              <a:t>Data Science Master Virtual Internship  |  AICTE – EduSkills Program</a:t>
            </a:r>
            <a:endParaRPr lang="en-US" sz="1400" dirty="0"/>
          </a:p>
        </p:txBody>
      </p:sp>
      <p:sp>
        <p:nvSpPr>
          <p:cNvPr id="7" name="Shape 4"/>
          <p:cNvSpPr/>
          <p:nvPr/>
        </p:nvSpPr>
        <p:spPr>
          <a:xfrm>
            <a:off x="5175504" y="3886200"/>
            <a:ext cx="1828800" cy="0"/>
          </a:xfrm>
          <a:prstGeom prst="line">
            <a:avLst/>
          </a:prstGeom>
          <a:noFill/>
          <a:ln w="28575">
            <a:solidFill>
              <a:srgbClr val="F2B441"/>
            </a:solidFill>
            <a:prstDash val="solid"/>
          </a:ln>
        </p:spPr>
      </p:sp>
      <p:sp>
        <p:nvSpPr>
          <p:cNvPr id="8" name="Text 5"/>
          <p:cNvSpPr/>
          <p:nvPr/>
        </p:nvSpPr>
        <p:spPr>
          <a:xfrm>
            <a:off x="0" y="4114800"/>
            <a:ext cx="12188952"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Sanjana Kumari</a:t>
            </a:r>
            <a:endParaRPr lang="en-US" sz="1600" dirty="0"/>
          </a:p>
        </p:txBody>
      </p:sp>
      <p:sp>
        <p:nvSpPr>
          <p:cNvPr id="9" name="Text 6"/>
          <p:cNvSpPr/>
          <p:nvPr/>
        </p:nvSpPr>
        <p:spPr>
          <a:xfrm>
            <a:off x="0" y="4462272"/>
            <a:ext cx="12188952" cy="320040"/>
          </a:xfrm>
          <a:prstGeom prst="rect">
            <a:avLst/>
          </a:prstGeom>
          <a:noFill/>
          <a:ln/>
        </p:spPr>
        <p:txBody>
          <a:bodyPr wrap="square" lIns="0" tIns="0" rIns="0" bIns="0" rtlCol="0" anchor="ctr"/>
          <a:lstStyle/>
          <a:p>
            <a:pPr algn="ctr" indent="0" marL="0">
              <a:buNone/>
            </a:pPr>
            <a:r>
              <a:rPr lang="en-US" sz="1250" dirty="0">
                <a:solidFill>
                  <a:srgbClr val="9FB8BC"/>
                </a:solidFill>
                <a:latin typeface="Calibri" pitchFamily="34" charset="0"/>
                <a:ea typeface="Calibri" pitchFamily="34" charset="-122"/>
                <a:cs typeface="Calibri" pitchFamily="34" charset="-120"/>
              </a:rPr>
              <a:t>IILM University, Greater Noida</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2026-08-29T20:25:50Z</dcterms:created>
  <dcterms:modified xsi:type="dcterms:W3CDTF">2026-08-29T20:25:51Z</dcterms:modified>
</cp:coreProperties>
</file>